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</c:v>
                </c:pt>
              </c:strCache>
            </c:strRef>
          </c:tx>
          <c:spPr>
            <a:solidFill>
              <a:srgbClr val="0068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315</c:v>
                </c:pt>
                <c:pt idx="2">
                  <c:v>1523</c:v>
                </c:pt>
                <c:pt idx="3">
                  <c:v>13261</c:v>
                </c:pt>
                <c:pt idx="4">
                  <c:v>17425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 Expenses (COR + Opex)</c:v>
                </c:pt>
              </c:strCache>
            </c:strRef>
          </c:tx>
          <c:spPr>
            <a:solidFill>
              <a:srgbClr val="62717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79.5</c:v>
                </c:pt>
                <c:pt idx="1">
                  <c:v>152.1</c:v>
                </c:pt>
                <c:pt idx="2">
                  <c:v>341.99</c:v>
                </c:pt>
                <c:pt idx="3">
                  <c:v>1621.52</c:v>
                </c:pt>
                <c:pt idx="4">
                  <c:v>2165.5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 Operating Profit / (Loss)</c:v>
                </c:pt>
              </c:strCache>
            </c:strRef>
          </c:tx>
          <c:spPr>
            <a:solidFill>
              <a:srgbClr val="008A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-49.5</c:v>
                </c:pt>
                <c:pt idx="1">
                  <c:v>162.9</c:v>
                </c:pt>
                <c:pt idx="2">
                  <c:v>1181.01</c:v>
                </c:pt>
                <c:pt idx="3">
                  <c:v>11639.48</c:v>
                </c:pt>
                <c:pt idx="4">
                  <c:v>15259.5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Year 1 Revenue ($30k)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68A0"/>
              </a:solidFill>
              <a:effectLst/>
            </c:spPr>
          </c:dPt>
          <c:dPt>
            <c:idx val="1"/>
            <c:bubble3D val="0"/>
            <c:spPr>
              <a:solidFill>
                <a:srgbClr val="008A68"/>
              </a:solidFill>
              <a:effectLst/>
            </c:spPr>
          </c:dPt>
          <c:dPt>
            <c:idx val="2"/>
            <c:bubble3D val="0"/>
            <c:spPr>
              <a:solidFill>
                <a:srgbClr val="00A89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Ward Councillors Subscriptions</c:v>
                </c:pt>
                <c:pt idx="1">
                  <c:v>B2B Service Providers</c:v>
                </c:pt>
                <c:pt idx="2">
                  <c:v>Data Analytics Clients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40</c:v>
                </c:pt>
                <c:pt idx="2">
                  <c:v>20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Year 5 Revenue ($17.425M)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8A68"/>
              </a:solidFill>
              <a:effectLst/>
            </c:spPr>
          </c:dPt>
          <c:dPt>
            <c:idx val="1"/>
            <c:bubble3D val="0"/>
            <c:spPr>
              <a:solidFill>
                <a:srgbClr val="0068A0"/>
              </a:solidFill>
              <a:effectLst/>
            </c:spPr>
          </c:dPt>
          <c:dPt>
            <c:idx val="2"/>
            <c:bubble3D val="0"/>
            <c:spPr>
              <a:solidFill>
                <a:srgbClr val="00A896"/>
              </a:solidFill>
              <a:effectLst/>
            </c:spPr>
          </c:dPt>
          <c:dPt>
            <c:idx val="3"/>
            <c:bubble3D val="0"/>
            <c:spPr>
              <a:solidFill>
                <a:srgbClr val="E3B341"/>
              </a:solidFill>
              <a:effectLst/>
            </c:spPr>
          </c:dPt>
          <c:dPt>
            <c:idx val="4"/>
            <c:bubble3D val="0"/>
            <c:spPr>
              <a:solidFill>
                <a:srgbClr val="E76F51"/>
              </a:solidFill>
              <a:effectLst/>
            </c:spPr>
          </c:dPt>
          <c:dPt>
            <c:idx val="5"/>
            <c:bubble3D val="0"/>
            <c:spPr>
              <a:solidFill>
                <a:srgbClr val="62717D"/>
              </a:solidFill>
              <a:effectLst/>
            </c:spPr>
          </c:dPt>
          <c:dPt>
            <c:idx val="6"/>
            <c:bubble3D val="0"/>
            <c:spPr>
              <a:solidFill>
                <a:srgbClr val="8E9AA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AI Data Broker Asset Sales</c:v>
                </c:pt>
                <c:pt idx="1">
                  <c:v>Municipal Enterprise Tiers</c:v>
                </c:pt>
                <c:pt idx="2">
                  <c:v>Data Analytics Clients</c:v>
                </c:pt>
                <c:pt idx="3">
                  <c:v>Premium Advertisers Network</c:v>
                </c:pt>
                <c:pt idx="4">
                  <c:v>B2B Service Providers</c:v>
                </c:pt>
                <c:pt idx="5">
                  <c:v>Ward Councillors Subscriptions</c:v>
                </c:pt>
                <c:pt idx="6">
                  <c:v>Others / Ancillary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86.1</c:v>
                </c:pt>
                <c:pt idx="1">
                  <c:v>6.2</c:v>
                </c:pt>
                <c:pt idx="2">
                  <c:v>2.1</c:v>
                </c:pt>
                <c:pt idx="3">
                  <c:v>1.7</c:v>
                </c:pt>
                <c:pt idx="4">
                  <c:v>1.4</c:v>
                </c:pt>
                <c:pt idx="5">
                  <c:v>0.2</c:v>
                </c:pt>
                <c:pt idx="6">
                  <c:v>2.3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Cost to Serve (CTS) per Ward</c:v>
                </c:pt>
              </c:strCache>
            </c:strRef>
          </c:tx>
          <c:spPr>
            <a:solidFill>
              <a:srgbClr val="0068A0"/>
            </a:solidFill>
            <a:ln w="38100" cap="flat">
              <a:solidFill>
                <a:srgbClr val="0068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68A0"/>
              </a:solidFill>
              <a:ln w="9525" cap="flat">
                <a:solidFill>
                  <a:srgbClr val="0068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6.2</c:v>
                </c:pt>
                <c:pt idx="2">
                  <c:v>4.8</c:v>
                </c:pt>
                <c:pt idx="3">
                  <c:v>3.8</c:v>
                </c:pt>
                <c:pt idx="4">
                  <c:v>3.25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STRATEGIC BUSINESS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Business Plan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Framework for an Autonomous Orchestration Layer for Municipal Infrastructure Platform.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31089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data routing and smart workflows bridging citizen intelligence with municipal action.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high-margin B2G and B2B public infrastructure data ecosystem capturing real-time municipal triage logs, citizen routing, and multi-team field dispatch dynamics to license proprietary operational datasets to frontier AI engineering labs.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5120640"/>
            <a:ext cx="2560320" cy="822960"/>
          </a:xfrm>
          <a:prstGeom prst="rect">
            <a:avLst/>
          </a:prstGeom>
          <a:solidFill>
            <a:srgbClr val="1A2E3D"/>
          </a:solidFill>
          <a:ln w="12700">
            <a:solidFill>
              <a:srgbClr val="008A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52120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RUNWAY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54406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$100k (18–24 mo)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291840" y="5120640"/>
            <a:ext cx="2560320" cy="822960"/>
          </a:xfrm>
          <a:prstGeom prst="rect">
            <a:avLst/>
          </a:prstGeom>
          <a:solidFill>
            <a:srgbClr val="1A2E3D"/>
          </a:solidFill>
          <a:ln w="12700">
            <a:solidFill>
              <a:srgbClr val="008A6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52120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5 REVENUE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9000" y="54406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$17.425M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35040" y="5120640"/>
            <a:ext cx="2560320" cy="822960"/>
          </a:xfrm>
          <a:prstGeom prst="rect">
            <a:avLst/>
          </a:prstGeom>
          <a:solidFill>
            <a:srgbClr val="1A2E3D"/>
          </a:solidFill>
          <a:ln w="12700">
            <a:solidFill>
              <a:srgbClr val="008A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52120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5 PROFIT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72200" y="54406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+$15.260M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778240" y="5120640"/>
            <a:ext cx="2560320" cy="822960"/>
          </a:xfrm>
          <a:prstGeom prst="rect">
            <a:avLst/>
          </a:prstGeom>
          <a:solidFill>
            <a:srgbClr val="1A2E3D"/>
          </a:solidFill>
          <a:ln w="12700">
            <a:solidFill>
              <a:srgbClr val="008A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15400" y="52120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MARGIN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915400" y="54406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89.9%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Summary: High-Margin Infrastructure Data Ecosystem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deployment of a cloud-based public infrastructure triage &amp; asset-liquidation platform.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566160" cy="393192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3317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Layer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65176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Proprietary Data Generation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3429000"/>
            <a:ext cx="3108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capturing real-time municipal triage logs, citizen utility routing patterns, and multi-team field dispatch dynamics, the platform creates a highly proprietary operational dataset unavailable in open public repositories.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51960" y="2103120"/>
            <a:ext cx="3566160" cy="393192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3317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High-Margin Scale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80560" y="265176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AI Lab Licensing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480560" y="3429000"/>
            <a:ext cx="3108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Beginning in Year 2, processed structural datasets are licensed directly to frontier AI labs (Anthropic, Google, OpenAI, X/Cursor, Meta) for specialized neural networks, agentic workflows, and Reinforcement Learning (RL) training.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2103120"/>
            <a:ext cx="3566160" cy="393192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83880" y="23317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Runway Security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183880" y="265176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Efficient Runway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183880" y="3429000"/>
            <a:ext cx="3108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$100,000 initial seed round funds 18 to 24 months of core runtime with a lean $75,000 Year 1 total baseline outflow, enabling proof of unit economics and data refinery scale before raising institutional capital.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RUNWAY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Feasibility &amp; Seed Runway Allocation ($100k)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seed round funds roughly 18 to 24 months of core runtime.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488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Sunk Assets (Historical R&amp;D)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0" y="2148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$30,000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132320" y="21488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software design iterations and foundational engine engineering capitalised as a sunk setup asset.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11064240" cy="91440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00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Working Cash Position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3200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$70,000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132320" y="320040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working capital deployed directly into active operational runtime, cloud hosting, and outreach.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11064240" cy="91440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251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Core Infrastructure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0" y="42519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$18,000 / yr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132320" y="425196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cloud server deployments ($500/mo) and Claude API workflow layers ($1,000/mo).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5166360"/>
            <a:ext cx="11064240" cy="91440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3035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Year 1 Baseline Outflows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53035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$75,000 / yr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53035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with a lean Year 1 Operating Expense framework of $57,000 ($45k payroll + $12k other opex).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solidFill>
            <a:srgbClr val="E6F4EA"/>
          </a:solidFill>
          <a:ln w="12700">
            <a:solidFill>
              <a:srgbClr val="008A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Takeaway: The $100,000 seed round provides 18–24 months of runway to build proprietary data assets and secure sustainable commercial contracts before follow-on expansion capital.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GTM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Positioning &amp; Go-To-Market (GTM) Strategy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Circumventing traditional public sector procurement friction via a bottom-up adoption wedge.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566160" cy="402336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2860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• Low friction organic footprint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60604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Bottom-Up Councillor Wedge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32918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Pricing: $10 / month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3657600"/>
            <a:ext cx="3108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outreach loops introduce individual ward councillors to dedicated utility tracking dashboards to monitor local service requests without heavy municipal procurement cycles.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51960" y="2103120"/>
            <a:ext cx="3566160" cy="402336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22860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• Workflow optimization &amp; operational link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80560" y="260604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Service Provider Onboarding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480560" y="32918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Pricing: $50 / month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80560" y="3657600"/>
            <a:ext cx="3108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external municipal vendors (plumbing, road maintenance, electrical repair crews) use the interface for structured job dispatches, lowering verification &amp; inspection overhead.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55280" y="2103120"/>
            <a:ext cx="3566160" cy="4023360"/>
          </a:xfrm>
          <a:prstGeom prst="rect">
            <a:avLst/>
          </a:prstGeom>
          <a:solidFill>
            <a:srgbClr val="F4F7F9"/>
          </a:solidFill>
          <a:ln w="25400">
            <a:solidFill>
              <a:srgbClr val="008A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22860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 • Institutional dataset licensing to AI Labs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83880" y="260604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Broker Asset Liquidation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183880" y="32918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Pricing: $100k → $1.0M per package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183880" y="3657600"/>
            <a:ext cx="3108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data deepens, the platform transitions into a high-tier data refinery. Anonymized municipal incident, triage, and resolution datasets are packaged and sold to frontier AI labs.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PRODUCT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CivicRewards Loyalty Framework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Maintaining reporting volume and verified field data without increasing operational service costs.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651760" cy="237744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86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 Verified Report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2004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 submits real-time infrastructure gap via Telegram / web.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2103120"/>
            <a:ext cx="2651760" cy="237744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286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20440" y="26517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Geolocation &amp; De-dupe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32004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validates GPS coordinates, cross-references duplicates, links to cases.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2103120"/>
            <a:ext cx="2651760" cy="237744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2286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309360" y="26517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Allocation (CivicPoints)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09360" y="32004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CivicPoints awarded upon independent community resolution validation.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15400" y="2103120"/>
            <a:ext cx="2651760" cy="237744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98280" y="2286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98280" y="26517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B2B Redemption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098280" y="320040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redeemed for discounts funded by Premium B2B Advertisers ($1k/mo).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709160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846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Engine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7240" y="51663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Citizens earn loyalty tokens ('CivicPoints') when they log verified public service gaps that are subsequently validated by community resolution engines, ensuring high signal-to-noise ratio.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4709160"/>
            <a:ext cx="53949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4846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Monetization (Zero Cash Burn)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46520" y="51663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are redeemable for localized value-added discounts. These incentives are funded by Premium B2B Advertisers paying $1,000/month, keeping customer engagement high without creating direct company cash burn.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DATA ASSET REFINERY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Refinement &amp; AI Broker Monetization Timeline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assets increase in valuation as transactional complexity and running history accumulate.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566160" cy="402336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2860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 • Qualified Partnerships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6060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/ package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" y="31089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Buyers: 1 Broker (micro1)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3520440"/>
            <a:ext cx="3108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 licenses basic operational logs, citizen routing patterns, and triage histories under pilot data partnership programs.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51960" y="2103120"/>
            <a:ext cx="3566160" cy="402336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22860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 • Large Data Collections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80560" y="26060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$500,000 / package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480560" y="31089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Buyers: 2 Brokers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80560" y="3520440"/>
            <a:ext cx="3108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Capturing ongoing, multi-team, deep transactional logs and work histories across 20 municipalities. Scales to $1.0M total revenue.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55280" y="2103120"/>
            <a:ext cx="3566160" cy="4023360"/>
          </a:xfrm>
          <a:prstGeom prst="rect">
            <a:avLst/>
          </a:prstGeom>
          <a:solidFill>
            <a:srgbClr val="F4F7F9"/>
          </a:solidFill>
          <a:ln w="25400">
            <a:solidFill>
              <a:srgbClr val="008A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22860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4 &amp; 5 • Highly Unique / Proprietary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183880" y="26060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$1,000,000 / package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83880" y="31089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Buyers: 4 Brokers (Y4) → 5 Brokers (Y5)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183880" y="3520440"/>
            <a:ext cx="31089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Distinctive operational workflows involving complex human decisions, triage, and escalations. Each of 3 core partner municipalities produces 1 distinct proprietary dataset sold to Anthropic, Google, OpenAI, X/Cursor, Meta ($15M Y5 revenue).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SCALING MILESTONES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5-Year Operational &amp; Accounts Scaling Targets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growth across all tiers driving software and data flywheel.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64240" cy="3200400"/>
        </p:xfrm>
        <a:graphic>
          <a:graphicData uri="http://schemas.openxmlformats.org/drawingml/2006/table">
            <a:tbl>
              <a:tblPr/>
              <a:tblGrid>
                <a:gridCol w="3749040"/>
                <a:gridCol w="1463040"/>
                <a:gridCol w="1463040"/>
                <a:gridCol w="146304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Account / Segment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Ward Councillors ($10/mo)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B2B Service Providers ($50/mo)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Partner Municipalities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Premium Advertisers ($1k/mo)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Analytics Clients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Data Brokers (Frontier Labs)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(micro1)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0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(Tier 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Notes: Year 4 &amp; 5 data brokers represent enterprise licenses to Anthropic, Google, OpenAI, X/Cursor, and Meta under structured data partnership programs.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FINANCIAL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A: 5-Year Consolidated Financial Projection (P&amp;L)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modeled in USD. Revenue metrics represent mid-year active customer averages.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4114800"/>
        </p:xfrm>
        <a:graphic>
          <a:graphicData uri="http://schemas.openxmlformats.org/drawingml/2006/table">
            <a:tbl>
              <a:tblPr/>
              <a:tblGrid>
                <a:gridCol w="3474720"/>
                <a:gridCol w="1517904"/>
                <a:gridCol w="1517904"/>
                <a:gridCol w="1517904"/>
                <a:gridCol w="1517904"/>
                <a:gridCol w="151790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 (USD)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68A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Annual Revenue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$1,523,000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$13,261,000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68A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$17,425,000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of Revenue (COR)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$62,100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$186,990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$1,361,520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$1,760,500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Profit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$252,900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$1,336,010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$11,899,480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$15,664,500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Margin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Staffing Headcount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Staff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Staff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Staff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Staff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Staff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Core Payroll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Operational Expenses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Operating Expenses (Opex)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62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Operating Profit / (Loss)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B7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($49,500)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+$162,900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+$1,181,010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+$11,639,480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8A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+$15,259,500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COST DISCIPLINE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Cost Architecture &amp; Lean Delivery Framework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efficiency ensures operational expenses remain below 2.5% of revenue by Year 5.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5394960" cy="402336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317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Revenue (COR) Architecture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Baseline Infrastructure: $18,000 annual fixed cost comprising cloud hosting ($500/mo) and Claude API connectivity ($1,000/mo).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Variable Platform Usage: Drops systematically from 15% in Year 1 down to 10% in Year 5 as server efficiency, ticket batching, and cache hit rates scale.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 Operational Leverage: Data asset extraction requires near-zero marginal reproduction cost once raw municipal dispatches are normalized.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103120"/>
            <a:ext cx="5394960" cy="402336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3317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 (Opex) Discipline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283464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Lean Engineering Payroll: Capitalizes on South African technical talent hubs ($45k Year 1 -&gt; $310k Year 5 across 13 engineering and operations staff).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Below-Market Founder Compensation: Early founder salaries held strictly below market benchmarks, aligning cash preservation with equity value creation.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Strict Travel &amp; Procurement Cap: Zero speculative municipal lobbying or travel; spend strictly bounded inside the 'Other Opex' budget envelope ($12k -&gt; $95k).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FINANCIAL PROJECTIONS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1: 5-Year Financial Trajectory &amp; AI Lab Data Scaling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Exponential top-line revenue growth scaling profits while keeping operational headcount lean.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011680"/>
          <a:ext cx="110642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REVENUE MIX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 2 &amp; 3: Revenue Stream Evolution (Year 1 vs. Year 5)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from early B2G/B2B software subscriptions to global AI data asset refinery.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103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66928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1: Software Seats ($30k Total)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Councillors | 40% Providers | 20% Analytics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309360" y="2103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309360" y="566928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5: Data Refinery ($17.425M Total)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86.1% AI Data Broker Asset Sales ($15.0M)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UNIT ECONOMICS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4: Unit Economics — Cost to Serve (CTS) Decay Curve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Single-ward server costs decrease as system throughput and data amortization scale.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2011680"/>
          <a:ext cx="65836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2011680"/>
            <a:ext cx="4114800" cy="123444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0" y="21488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 CTS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784080" y="21488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$18.00 / mo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80960" y="24688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 token parsing + $15 amortized server overhead across first 100 wards.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498080" y="3383280"/>
            <a:ext cx="4114800" cy="123444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80960" y="35204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 CTS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784080" y="35204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$6.20 / mo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680960" y="38404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Significant infrastructure amortization as ward counts scale to 300.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498080" y="4754880"/>
            <a:ext cx="4114800" cy="123444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80960" y="48920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5 CTS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784080" y="48920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$3.25 / mo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680960" y="52120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infrastructure fully amortized by high-yield data broker asset contracts.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MICROECONOMICS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Unit Economics &amp; Single-Ward Micro Analysis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 the model at the individual Paying Ward level illustrates underlying network efficiency.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394960" cy="123444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48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Ward Composition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49040" y="21488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Councillor + 0.2 Provider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local Councillor seat ($10/mo) paired with ~0.2 integrated Service Provider access configs ($10/mo pro-rata).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2011680"/>
            <a:ext cx="5394960" cy="123444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148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Blended Monthly Revenue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418320" y="21488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$20.00 / month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246888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$240.00 annualized recurring subscription yield per active ward footprint before data monetization.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383280"/>
            <a:ext cx="5394960" cy="123444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520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Cost to Serve (CTS)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4904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$3.00 / month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384048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incoming tickets/month @ $0.02 variable AI token cost per validated incident dispatch.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383280"/>
            <a:ext cx="5394960" cy="123444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5204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Overhead Amortization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418320" y="3520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$15.00 / month (Y1)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0" y="384048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$18k/yr hosting + dedicated Claude API allocated across initial cohort of 100 active wards.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754880"/>
            <a:ext cx="5394960" cy="123444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892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Contribution (Y1 → Y5)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749040" y="4892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$2.00 → $16.75 / mo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1520" y="521208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 contribution margin expands from 10% in Year 1 to 83.8% in Year 5 as server costs decline to $3.25.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4754880"/>
            <a:ext cx="5394960" cy="123444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48920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Acquisition Cost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418320" y="4892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$45.00 / ward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0" y="5212080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outreach to municipal councillor cohorts yields capital payback within 2.25 months (&lt; 1 quarter).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GOVERNANCE &amp; COMPLIANCE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Governance, Privacy (POPIA) &amp; Frontier AI Training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Transforming raw civic messages into clean, legally compliant structured training sets.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566160" cy="402336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28600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60604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&amp; De-identification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333756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stripping of personal identifiers (PII), telephone numbers, and resident identities in compliance with South Africa's Protection of Personal Information Act (POPIA) and global data privacy standards.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51960" y="2103120"/>
            <a:ext cx="3566160" cy="402336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28600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80560" y="260604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Triage Graph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80560" y="333756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Structuring real-time incident lifecycle: raw report -&gt; automated categorization -&gt; departmental assignment -&gt; contractor dispatch -&gt; physical repair -&gt; community verification.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0" y="2103120"/>
            <a:ext cx="3566160" cy="4023360"/>
          </a:xfrm>
          <a:prstGeom prst="rect">
            <a:avLst/>
          </a:prstGeom>
          <a:solidFill>
            <a:srgbClr val="F4F7F9"/>
          </a:solidFill>
          <a:ln w="12700">
            <a:solidFill>
              <a:srgbClr val="D6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83880" y="228600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183880" y="260604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&amp; Agentic Training Utility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183880" y="333756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AI labs specifically acquire this data to train autonomous multi-agent operational decision-making systems capable of coordinating complex physical logistics and emergency municipal triage.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DESK  /  STRATEGIC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&amp; Investment Milestones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execution path from initial seed validation to institutional data scale.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271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PLAN • OCTOBER 2026  |  CONFIDENTIAL • MANAGEMENT PLANNING, NOT AUDITED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566160" cy="4023360"/>
          </a:xfrm>
          <a:prstGeom prst="rect">
            <a:avLst/>
          </a:prstGeom>
          <a:solidFill>
            <a:srgbClr val="132433"/>
          </a:solidFill>
          <a:ln w="12700">
            <a:solidFill>
              <a:srgbClr val="008A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28600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1–12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5603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Seed Validation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3200400"/>
            <a:ext cx="3108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Deploy $100k seed runway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Onboard 100 Ward Councillors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Onboard 20 Service Providers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Establish $30k Year 1 baseline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 150 tickets/mo/ward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51960" y="2103120"/>
            <a:ext cx="3566160" cy="4023360"/>
          </a:xfrm>
          <a:prstGeom prst="rect">
            <a:avLst/>
          </a:prstGeom>
          <a:solidFill>
            <a:srgbClr val="132433"/>
          </a:solidFill>
          <a:ln w="12700">
            <a:solidFill>
              <a:srgbClr val="008A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28600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13–24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480560" y="25603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Data Commercialization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80560" y="3200400"/>
            <a:ext cx="3108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Scale to 300 wards &amp; 8 municipalities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License pilot dataset to micro1 ($100k)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Reach profitability ($162.9k profit)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Launch CivicRewards advertising loop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18–24 mo self-funding runway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0" y="2103120"/>
            <a:ext cx="3566160" cy="4023360"/>
          </a:xfrm>
          <a:prstGeom prst="rect">
            <a:avLst/>
          </a:prstGeom>
          <a:solidFill>
            <a:srgbClr val="132433"/>
          </a:solidFill>
          <a:ln w="12700">
            <a:solidFill>
              <a:srgbClr val="008A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83880" y="228600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3–5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183880" y="25603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Global AI Refinery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183880" y="3200400"/>
            <a:ext cx="3108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Expand to 3,200 wards &amp; 90 municipalities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Deliver proprietary datasets to 5 AI labs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Achieve $17.425M revenue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89.9% gross margin &amp; $15.26M profit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4F7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standard for municipal triage 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 Desk Business Plan</dc:title>
  <dc:subject>Strategic Framework for an Autonomous Orchestration Layer for Municipal Infrastructure Platform</dc:subject>
  <dc:creator>Signal Desk</dc:creator>
  <cp:lastModifiedBy>Signal Desk</cp:lastModifiedBy>
  <cp:revision>1</cp:revision>
  <dcterms:created xsi:type="dcterms:W3CDTF">2026-10-16T11:55:55Z</dcterms:created>
  <dcterms:modified xsi:type="dcterms:W3CDTF">2026-10-16T11:55:55Z</dcterms:modified>
</cp:coreProperties>
</file>