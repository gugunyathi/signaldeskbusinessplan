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notesMaster" Target="notesMasters/notesMaster1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Verbatim source excerpt:</a:t>
            </a:r>
          </a:p>
          <a:p/>
          <a:p>
            <a:r>
              <a:t>SIGNAL DESK</a:t>
            </a:r>
          </a:p>
          <a:p/>
          <a:p/>
          <a:p>
            <a:r>
              <a:t>Strategic Growth &amp; Capital Investment Prospectus</a:t>
            </a:r>
          </a:p>
          <a:p/>
          <a:p>
            <a:r>
              <a:t>October 2026</a:t>
            </a:r>
          </a:p>
          <a:p/>
          <a:p>
            <a:r>
              <a:t>1. Executive Summary</a:t>
            </a:r>
          </a:p>
          <a:p/>
          <a:p/>
          <a:p>
            <a:r>
              <a:t>1.1 The Venture Hypothesis</a:t>
            </a:r>
          </a:p>
          <a:p/>
          <a:p>
            <a:r>
              <a:t>Signal Desk is an infrastructure-intelligence platform designed to transform fragmented, unstructured community voice into structured civic data asset networks. Built on a six-year operational pilot in Johannesburg’s Ward 115, the platform acts as a decentralized workflow routing and diagnostics layer for public infrastructure management.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Verbatim source excerpt:</a:t>
            </a:r>
          </a:p>
          <a:p>
            <a:r>
              <a:t>By analyzing over 155,000 community messages and 30,977 service reports, the platform has historically demonstrated a significant structural impact: reducing localized councillor administrative burdens from several hours a day to under 30 minutes.</a:t>
            </a:r>
          </a:p>
          <a:p>
            <a:r>
              <a:t>The venture's scalable thesis converts structural civic friction into a multi-sided business model. Signal Desk simultaneously drives workflow efficiencies for local representatives, market insights for commercial businesses, and high-integrity tokenized datasets for global AI model developers and data brokers.</a:t>
            </a:r>
          </a:p>
          <a:p/>
          <a:p>
            <a:r>
              <a:t>1.2 Strategic Architecture (McKinsey Horizon Model)</a:t>
            </a:r>
          </a:p>
          <a:p/>
          <a:p>
            <a:r>
              <a:t>Signal Desk’s market expansion strategy is executed across three distinct value horizons:</a:t>
            </a:r>
          </a:p>
          <a:p>
            <a:r>
              <a:t>[Horizon 3: Continental Scale] ──&gt; Select regional scaling &amp; predictive analytics infrastructure</a:t>
            </a:r>
          </a:p>
          <a:p>
            <a:r>
              <a:t>                                  (Years 4–5)</a:t>
            </a:r>
          </a:p>
          <a:p>
            <a:r>
              <a:t>                                  </a:t>
            </a:r>
          </a:p>
          <a:p>
            <a:r>
              <a:t>[Horizon 2: Monetization Layer] ─&gt; B2B monetization via corporate subscriptions &amp; data brokerage</a:t>
            </a:r>
          </a:p>
          <a:p>
            <a:r>
              <a:t>                                  (Years 2–3)</a:t>
            </a:r>
          </a:p>
          <a:p/>
          <a:p>
            <a:r>
              <a:t>[Horizon 1: Reference Pilot] ────&gt; Stabilize core infrastructure &amp; monetize 5-ward cohort</a:t>
            </a:r>
          </a:p>
          <a:p>
            <a:r>
              <a:t>                                  (Year 1)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Verbatim source excerpt:</a:t>
            </a:r>
          </a:p>
          <a:p>
            <a:r>
              <a:t>• Horizon 1 (Year 1): Core Stabilization &amp; Replication: Validate paid software conversion from a targeted 5-ward municipal cohort in South Africa. Establish baseline unit economics across core administrative software interfaces.</a:t>
            </a:r>
          </a:p>
          <a:p>
            <a:r>
              <a:t>• Horizon 2 (Years 2–3): Multi-Sided Monetization: Scale commercial B2B provider loops, finalize the CivicRewards pilot ecosystem, and execute high-margin transactional data broker integrations.</a:t>
            </a:r>
          </a:p>
          <a:p>
            <a:r>
              <a:t>• Horizon 3 (Years 4–5): Continental Network Effects: Expand market penetration to high-density regional metros across sub-Saharan Africa (Track A: Namibia, Botswana, Kenya; Track B: Nigeria, Ethiopia), transforming Signal Desk into the definitive data oracle for emerging market infrastructure planning.</a:t>
            </a:r>
          </a:p>
          <a:p/>
          <a:p>
            <a:r>
              <a:t>2. Product Architecture &amp; Multi-Sided Value Proposition</a:t>
            </a:r>
          </a:p>
          <a:p/>
          <a:p/>
          <a:p>
            <a:r>
              <a:t>2.1 Technical Workflow Engine</a:t>
            </a:r>
          </a:p>
          <a:p/>
          <a:p>
            <a:r>
              <a:t>The platform bypasses capital-intensive infrastructure deployments by positioning itself as a lightweight data aggregator layer. It leverages consumer chat platforms (Telegram-first) and optimized web capture screens to ingest raw information.</a:t>
            </a:r>
          </a:p>
          <a:p>
            <a:r>
              <a:t>[1. Capture] ──&gt; [2. Link / Deduplicate] ──&gt; [3. Act / Route] ──&gt; [4. Verify / Close]</a:t>
            </a:r>
          </a:p>
          <a:p>
            <a:r>
              <a:t>1. Capture: Automated ingest of geotagged community text, metadata, and visual evidence assets.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Verbatim source excerpt:</a:t>
            </a:r>
          </a:p>
          <a:p>
            <a:r>
              <a:t>2. Link / Deduplicate: Machine learning models group overlapping complaints into a single canonical incident node, preventing public tracking systems from flooding.</a:t>
            </a:r>
          </a:p>
          <a:p>
            <a:r>
              <a:t>3. Act / Route: Automatic translation into standard department formats, linking them directly to real municipal tracking numbers.</a:t>
            </a:r>
          </a:p>
          <a:p>
            <a:r>
              <a:t>4. Verify / Close: Multi-source verification protocols confirm resolution through independent resident reports before archiving the historical file.</a:t>
            </a:r>
          </a:p>
          <a:p/>
          <a:p>
            <a:r>
              <a:t>2.2 Product Tier Portfolio</a:t>
            </a:r>
          </a:p>
          <a:p/>
          <a:p>
            <a:r>
              <a:t>+---------------------------------------------------------------------------------+</a:t>
            </a:r>
          </a:p>
          <a:p/>
          <a:p>
            <a:r>
              <a:t>|                                 SIGNAL DESK CORE                                |</a:t>
            </a:r>
          </a:p>
          <a:p>
            <a:r>
              <a:t>+----------------------------------------+----------------------------------------+</a:t>
            </a:r>
          </a:p>
          <a:p/>
          <a:p>
            <a:r>
              <a:t>|               B2G TIERS                |               B2B TIERS                |</a:t>
            </a:r>
          </a:p>
          <a:p>
            <a:r>
              <a:t>|                                        |                                        |</a:t>
            </a:r>
          </a:p>
          <a:p>
            <a:r>
              <a:t>|  • Councillor Tracking Tools ($10/mo)  |  • Commercial Provider CRM ($50/mo)    |</a:t>
            </a:r>
          </a:p>
          <a:p>
            <a:r>
              <a:t>|  • Municipal Intelligence ($10k/yr)   |  • Anonymized AI Data Licensing        |</a:t>
            </a:r>
          </a:p>
          <a:p>
            <a:r>
              <a:t>+----------------------------------------+----------------------------------------+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Verbatim source excerpt:</a:t>
            </a:r>
          </a:p>
          <a:p>
            <a:r>
              <a:t>• Ward Councillors ($10/month per seat): Cloud dashboard optimizing localized escalation tracking and report organization.</a:t>
            </a:r>
          </a:p>
          <a:p>
            <a:r>
              <a:t>• Businesses &amp; Service Providers ($50/month per seat): B2B routing tools, service level agreement trackers, and validation tools for contractors working in localized zones.</a:t>
            </a:r>
          </a:p>
          <a:p>
            <a:r>
              <a:t>• Municipalities ($10,000/annum per contract): Multi-ward cross-sectional planning modules, department response metrics, and systemic risk assessments.</a:t>
            </a:r>
          </a:p>
          <a:p/>
          <a:p>
            <a:r>
              <a:t>3. Market Opportunity &amp; Addressable Asset Valuation</a:t>
            </a:r>
          </a:p>
          <a:p/>
          <a:p/>
          <a:p>
            <a:r>
              <a:t>3.1 Total Addressable Market (TAM) Analysis</a:t>
            </a:r>
          </a:p>
          <a:p/>
          <a:p>
            <a:r>
              <a:t>South Africa offers an immediate, highly structured baseline market consisting of 4,488 unique wards, 9,473 elected councillors, and 257 organized municipalities.</a:t>
            </a:r>
          </a:p>
          <a:p>
            <a:r>
              <a:t>+-----------------------------------------------------------------------------------+</a:t>
            </a:r>
          </a:p>
          <a:p/>
          <a:p>
            <a:r>
              <a:t>| Total Addressable Market (TAM): $47,4M                                           |</a:t>
            </a:r>
          </a:p>
          <a:p>
            <a:r>
              <a:t>| Includes total administrative and planning budgets across 45,000 sub-Saharan wards|</a:t>
            </a:r>
          </a:p>
          <a:p>
            <a:r>
              <a:t>+-----------------------------------------------------------------------------------+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Verbatim source excerpt:</a:t>
            </a:r>
          </a:p>
          <a:p>
            <a:r>
              <a:t>       |</a:t>
            </a:r>
          </a:p>
          <a:p>
            <a:r>
              <a:t>       v</a:t>
            </a:r>
          </a:p>
          <a:p>
            <a:r>
              <a:t>+-----------------------------------------------------------------------------------+</a:t>
            </a:r>
          </a:p>
          <a:p/>
          <a:p>
            <a:r>
              <a:t>| Serviceable Addressable Market (SAM): $6,1M                                       |</a:t>
            </a:r>
          </a:p>
          <a:p>
            <a:r>
              <a:t>| 4,488 active South African wards + direct utility providers &amp; adjacent data markets|</a:t>
            </a:r>
          </a:p>
          <a:p>
            <a:r>
              <a:t>+-----------------------------------------------------------------------------------+</a:t>
            </a:r>
          </a:p>
          <a:p>
            <a:r>
              <a:t>       |</a:t>
            </a:r>
          </a:p>
          <a:p>
            <a:r>
              <a:t>       v</a:t>
            </a:r>
          </a:p>
          <a:p>
            <a:r>
              <a:t>+-----------------------------------------------------------------------------------+</a:t>
            </a:r>
          </a:p>
          <a:p/>
          <a:p>
            <a:r>
              <a:t>| Serviceable Obtainable Market (SOM): $581K                                        |</a:t>
            </a:r>
          </a:p>
          <a:p>
            <a:r>
              <a:t>| Year 5 target penetration: 1,600 councillors, 180 enterprise providers, 15 cities |</a:t>
            </a:r>
          </a:p>
          <a:p>
            <a:r>
              <a:t>+-----------------------------------------------------------------------------------+</a:t>
            </a:r>
          </a:p>
          <a:p/>
          <a:p>
            <a:r>
              <a:t>3.2 Data Licensing &amp; AI Monetization Mechanics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Verbatim source excerpt:</a:t>
            </a:r>
          </a:p>
          <a:p>
            <a:r>
              <a:t>Modern Large Language Models (LLMs) and spatial AI platforms suffer from a lack of high-fidelity, hyper-local ground truth data in emerging markets. Signal Desk’s data asset engine standardizes unstructured history into highly valuable, structured datasets.</a:t>
            </a:r>
          </a:p>
          <a:p>
            <a:r>
              <a:t>+---------------------------+       +----------------------------+       +---------------------------+</a:t>
            </a:r>
          </a:p>
          <a:p/>
          <a:p>
            <a:r>
              <a:t>|    Raw Community Feeds    |  ==&gt;  | Signal Desk Data Standard  |  ==&gt;  |   Enterprise AI Buyers    |</a:t>
            </a:r>
          </a:p>
          <a:p>
            <a:r>
              <a:t>| Unstructured, localized   |       | Anonymized, cross-linked,  |       | Spatial AI, GIS models,   |</a:t>
            </a:r>
          </a:p>
          <a:p>
            <a:r>
              <a:t>| communication streams     |       | structured metadata layers |       | infrastructure investors  |</a:t>
            </a:r>
          </a:p>
          <a:p>
            <a:r>
              <a:t>+---------------------------+       +----------------------------+       +---------------------------+</a:t>
            </a:r>
          </a:p>
          <a:p>
            <a:r>
              <a:t>• Asset Specification: Data packages are anonymized at the source to maintain compliance with POPIA. They are categorized by utility vector (electricity grids, clean water access, transit routes, and localized municipal scorecards).</a:t>
            </a:r>
          </a:p>
          <a:p>
            <a:r>
              <a:t>• Target Enterprise Buyers: Global geospatial intelligence providers, infrastructure private equity funds, logistics routing engines, and academic institutions training predictive climate and resilience models.</a:t>
            </a:r>
          </a:p>
          <a:p/>
          <a:p>
            <a:r>
              <a:t>4. Operational Scaling &amp; Workforce Architecture</a:t>
            </a:r>
          </a:p>
          <a:p/>
          <a:p>
            <a:r>
              <a:t>To maintain a lean overhead model, personnel scaling matches multi-ward milestones. Headcount will expand from 5 to 10 full-time equivalents (FTEs) over a five-year horizon.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Verbatim source excerpt:</a:t>
            </a:r>
          </a:p>
          <a:p>
            <a:r>
              <a:t>       [Year 1: 5 FTEs]                   [Year 3: 7 FTEs]                   [Year 5: 10 FTEs]</a:t>
            </a:r>
          </a:p>
          <a:p>
            <a:r>
              <a:t>┌──────────────────────────────┐   ┌──────────────────────────────┐   ┌──────────────────────────────┐</a:t>
            </a:r>
          </a:p>
          <a:p>
            <a:r>
              <a:t>│ • Founders (2)               │   │ • Founders (2)               │   │ • Founders (2)               │</a:t>
            </a:r>
          </a:p>
          <a:p>
            <a:r>
              <a:t>│ • Data/Product Eng (2)       │   │ • Data/Product Eng (2)       │   │ • Data/Product Eng (3)       │</a:t>
            </a:r>
          </a:p>
          <a:p>
            <a:r>
              <a:t>│ • Customer Success (1)       │   │ • Customer Success (1)       │   │ • Customer Success (2)       │</a:t>
            </a:r>
          </a:p>
          <a:p>
            <a:r>
              <a:t>└──────────────────────────────┘   │ • Sales/Partnerships (1)     │   │ • Sales/Partnerships (2)     │</a:t>
            </a:r>
          </a:p>
          <a:p>
            <a:r>
              <a:t>                                   │ • Governance/Data Audit (1)  │   │ • Governance/Data Audit (1)  │</a:t>
            </a:r>
          </a:p>
          <a:p>
            <a:r>
              <a:t>                                   └──────────────────────────────┘   └──────────────────────────────┘</a:t>
            </a:r>
          </a:p>
          <a:p>
            <a:r>
              <a:t>1. Founders (2 FTEs): Strategic account relationships, policy coordination, and institutional capital acquisition.</a:t>
            </a:r>
          </a:p>
          <a:p>
            <a:r>
              <a:t>2. Data &amp; Product Engineers (Scale 2 to 3 FTEs): Architecture maintenance, LLM parsing optimization, automated database deduplication, and secure API pipeline construction.</a:t>
            </a:r>
          </a:p>
          <a:p>
            <a:r>
              <a:t>3. Customer Success Managers (Scale 1 to 2 FTEs): Regional user training, setup support, activation optimization, and account retention tracking.</a:t>
            </a:r>
          </a:p>
          <a:p>
            <a:r>
              <a:t>4. Sales &amp; Partnerships Leads (Scale 0 to 2 FTEs): Driving commercial enterprise user acquisition, managing data broker sales pipelines, and closing municipal contracts.</a:t>
            </a:r>
          </a:p>
          <a:p>
            <a:r>
              <a:t>5. Governance &amp; Data Audit Specialists (Scale 0 to 1 FTE): Maintaining compliance structures under regional data protection frameworks (POPIA, GDPR equivalents) across target markets.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Verbatim source excerpt:</a:t>
            </a:r>
          </a:p>
          <a:p>
            <a:r>
              <a:t>5. Comprehensive Financial Plan &amp; Scaling Metrics</a:t>
            </a:r>
          </a:p>
          <a:p/>
          <a:p/>
          <a:p>
            <a:r>
              <a:t>5.1 Macro Growth Driver Assumptions</a:t>
            </a:r>
          </a:p>
          <a:p/>
          <a:p>
            <a:r>
              <a:t>• Subscription Ramp: Calculated using linear mid-year averaging to adjust for progressive customer acquisition over any given 12-month calendar cycle.</a:t>
            </a:r>
          </a:p>
          <a:p>
            <a:r>
              <a:t>• Fully-Loaded Staff Costs: Standardized at a blended rate of $45,000 / annum per FTE (covering salaries, localized benefit obligations, and payroll taxes within regional operating parameters).</a:t>
            </a:r>
          </a:p>
          <a:p>
            <a:r>
              <a:t>• Operating Facilities: Managed via agile corporate spaces budgeted at $1,800 / annum per active employee node.</a:t>
            </a:r>
          </a:p>
          <a:p>
            <a:r>
              <a:t>• SaaS Stack Infrastructure: Standardized at $1,200 / annum per employee node for core engineering tools, automated verification nodes, secure communication channels, and compliance software.</a:t>
            </a:r>
          </a:p>
          <a:p/>
          <a:p>
            <a:r>
              <a:t>5.2 5-Year Integrated Forecast Model</a:t>
            </a:r>
          </a:p>
          <a:p/>
          <a:p>
            <a:r>
              <a:t>$600k ─────────────────────────────────────────────────────────────────────── Total Revenue: $581K</a:t>
            </a:r>
          </a:p>
          <a:p>
            <a:r>
              <a:t>                                                                              Gross Profit: $541K</a:t>
            </a:r>
          </a:p>
          <a:p>
            <a:r>
              <a:t>$400k ───────────────────────────────────────────────────────────────────   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Verbatim source excerpt:</a:t>
            </a:r>
          </a:p>
          <a:p>
            <a:r>
              <a:t>                                                                              </a:t>
            </a:r>
          </a:p>
          <a:p>
            <a:r>
              <a:t>$200k ───────────────────────────────────────────────────────────────         </a:t>
            </a:r>
          </a:p>
          <a:p>
            <a:r>
              <a:t>                                                                              </a:t>
            </a:r>
          </a:p>
          <a:p>
            <a:r>
              <a:t>   $0 ─────────────────■─────────────────■─────────────────■─────────────────■</a:t>
            </a:r>
          </a:p>
          <a:p>
            <a:r>
              <a:t>                    Year 1            Year 2            Year 3            Year 4            Year 5</a:t>
            </a:r>
          </a:p>
          <a:p>
            <a:r>
              <a:t>-$200k ───■──────────────────────────────────────────────────────────────────</a:t>
            </a:r>
          </a:p>
          <a:p>
            <a:r>
              <a:t>       EBITDA: -$248.4K     EBITDA: -$268.5K  EBITDA: -$254.6K  EBITDA: -$209.5K  EBITDA: $5.0K</a:t>
            </a:r>
          </a:p>
          <a:p/>
          <a:p>
            <a:r>
              <a:t>Financial Matrix Line Item ($)	Year 1	Year 2	Year 3	Year 4	Year 5</a:t>
            </a:r>
          </a:p>
          <a:p>
            <a:r>
              <a:t>FINANCIAL TARGETS					</a:t>
            </a:r>
          </a:p>
          <a:p>
            <a:r>
              <a:t>Active Paying Councillors	50	150	400	900	1,600</a:t>
            </a:r>
          </a:p>
          <a:p>
            <a:r>
              <a:t>Active Paying Businesses	5	15	40	90	180</a:t>
            </a:r>
          </a:p>
          <a:p>
            <a:r>
              <a:t>Active Municipal Contracts	0	1	3	7	15</a:t>
            </a:r>
          </a:p>
          <a:p>
            <a:r>
              <a:t>REVENUE STREAMS					</a:t>
            </a:r>
          </a:p>
          <a:p>
            <a:r>
              <a:t>Councillor Subscriptions ($10/mo)	3,000	12,000	33,000	78,000	150,000</a:t>
            </a:r>
          </a:p>
          <a:p>
            <a:r>
              <a:t>Business Subscriptions ($50/mo)	1,500	6,000	16,500	39,000	81,000</a:t>
            </a:r>
          </a:p>
          <a:p>
            <a:r>
              <a:t>Municipal Contracts ($10k/yr)	0	5,000	20,000	50,000	110,000</a:t>
            </a:r>
          </a:p>
          <a:p>
            <a:r>
              <a:t>Anonymized AI Data Licensing	2,000	12,000	30,000	75,000	150,000</a:t>
            </a:r>
          </a:p>
          <a:p>
            <a:r>
              <a:t>Targeted Civic App Advertising	1,200	6,000	18,000	45,000	90,000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Verbatim source excerpt:</a:t>
            </a:r>
          </a:p>
          <a:p>
            <a:r>
              <a:t>TOTAL GROSS REVENUE	7,700	41,000	117,500	287,000	581,000</a:t>
            </a:r>
          </a:p>
          <a:p>
            <a:r>
              <a:t>DIRECT COSTS (COGS)					</a:t>
            </a:r>
          </a:p>
          <a:p>
            <a:r>
              <a:t>LLM Parse &amp; Token API Costs ($0.02)	(200)	(700)	(2,000)	(5,000)	(10,000)</a:t>
            </a:r>
          </a:p>
          <a:p>
            <a:r>
              <a:t>Server Compute &amp; Secure Cloud	(2,400)	(4,800)	(9,600)	(18,000)	(30,000)</a:t>
            </a:r>
          </a:p>
          <a:p>
            <a:r>
              <a:t>TOTAL DIRECT COSTS	(2,600)	(5,500)	(11,600)	(23,000)	(40,000)</a:t>
            </a:r>
          </a:p>
          <a:p>
            <a:r>
              <a:t>GROSS OPERATING PROFIT	5,100	35,500	105,900	264,000	541,000</a:t>
            </a:r>
          </a:p>
          <a:p>
            <a:r>
              <a:t>Gross Margin Efficiency %	66.2%	86.6%	90.1%	92.0%	93.1%</a:t>
            </a:r>
          </a:p>
          <a:p>
            <a:r>
              <a:t>OPERATING EXPENSES (OPEX)					</a:t>
            </a:r>
          </a:p>
          <a:p>
            <a:r>
              <a:t>Personnel Fully Loaded Costs	(225,000)	(270,000)	(315,000)	(405,000)	(450,000)</a:t>
            </a:r>
          </a:p>
          <a:p>
            <a:r>
              <a:t>Premises Rent (Agile Hubs)	(9,000)	(10,800)	(12,600)	(16,200)	(18,000)</a:t>
            </a:r>
          </a:p>
          <a:p>
            <a:r>
              <a:t>IT Hardware Provisioning	(7,500)	(4,000)	(4,500)	(6,500)	(6,000)</a:t>
            </a:r>
          </a:p>
          <a:p>
            <a:r>
              <a:t>Software &amp; Infrastructure Tooling	(6,000)	(7,200)	(8,400)	(10,800)	(12,000)</a:t>
            </a:r>
          </a:p>
          <a:p>
            <a:r>
              <a:t>GTM, Local Travel &amp; Administration	(6,000)	(12,000)	(20,000)	(35,000)	(50,000)</a:t>
            </a:r>
          </a:p>
          <a:p>
            <a:r>
              <a:t>TOTAL OPERATING EXPENSES	(253,500)	(304,000)	(360,500)	(473,500)	(536,000)</a:t>
            </a:r>
          </a:p>
          <a:p>
            <a:r>
              <a:t>EARNINGS PROFILE (EBITDA)	(248,400)	(268,500)	(254,600)	(209,500)	5,000</a:t>
            </a:r>
          </a:p>
          <a:p/>
          <a:p/>
          <a:p>
            <a:r>
              <a:t>6. Financing Requirements &amp; Capital Deployment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Verbatim source excerpt:</a:t>
            </a:r>
          </a:p>
          <a:p/>
          <a:p>
            <a:r>
              <a:t>6.1 Seed Round Target Structure</a:t>
            </a:r>
          </a:p>
          <a:p/>
          <a:p>
            <a:r>
              <a:t>Signal Desk is raising an initial $100,000 financing round via open-architecture instruments (such as equity or flexible convertible structures). This round is designed to fund early operations and successfully unlock the platform's initial expansion milestones.</a:t>
            </a:r>
          </a:p>
          <a:p/>
          <a:p>
            <a:r>
              <a:t>6.2 Structural Allocation of Proceeds</a:t>
            </a:r>
          </a:p>
          <a:p/>
          <a:p>
            <a:r>
              <a:t>The capital injection will be allocated across three strategic budget categories:</a:t>
            </a:r>
          </a:p>
          <a:p>
            <a:r>
              <a:t>[$100,000 Seed Capital Investment]</a:t>
            </a:r>
          </a:p>
          <a:p>
            <a:r>
              <a:t>  ├── [40%] $40,000 -&gt; Product Engineering &amp; Automation Scaling</a:t>
            </a:r>
          </a:p>
          <a:p>
            <a:r>
              <a:t>  │                      (Refining automated data deduplication &amp; spatial linking pipelines)</a:t>
            </a:r>
          </a:p>
          <a:p>
            <a:r>
              <a:t>  ├── [35%] $35,000 -&gt; Secure AI Compute &amp; Core Database Scaling</a:t>
            </a:r>
          </a:p>
          <a:p>
            <a:r>
              <a:t>  │                      (Cloud management and ingestion framework infrastructure for a 5-ward cohort)</a:t>
            </a:r>
          </a:p>
          <a:p>
            <a:r>
              <a:t>  └── [25%] $25,000 -&gt; Strategic GTM Penetration &amp; Account Onboarding</a:t>
            </a:r>
          </a:p>
          <a:p>
            <a:r>
              <a:t>                         (Onboarding the initial 50 paid municipal representative nodes)</a:t>
            </a:r>
          </a:p>
          <a:p/>
          <a:p>
            <a:r>
              <a:t>6.3 Strategic Investment Milestones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Verbatim source excerpt:</a:t>
            </a:r>
          </a:p>
          <a:p/>
          <a:p>
            <a:r>
              <a:t>This capitalization runway provides approximately 12 to 14 months of operating runway, driving the enterprise through key operational valuation gates:</a:t>
            </a:r>
          </a:p>
          <a:p>
            <a:r>
              <a:t>• Transitioning the Ward 115 pilot network into a reference case study with 50 paying councillors.</a:t>
            </a:r>
          </a:p>
          <a:p>
            <a:r>
              <a:t>• Standardizing the operational deployment manual to allow new wards to onboard without requiring custom product engineering updates.</a:t>
            </a:r>
          </a:p>
          <a:p>
            <a:r>
              <a:t>• Finalizing a baseline data delivery agreement with an enterprise data broker or spatial intelligence platform, validating our long-term monetization model.</a:t>
            </a:r>
          </a:p>
          <a:p>
            <a:r>
              <a:t>Would you like to analyze the sensitivity metrics for our data licensing revenue (e.g., changes in bulk transaction volumes), or build out a detailed compliance checklist for cross-border data transfers into the Track A markets?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8A68"/>
                </a:solidFill>
                <a:latin typeface="Arial"/>
              </a:defRPr>
            </a:pPr>
            <a:r>
              <a:t>SIGNAL DESK  /  STRATEGIC BUSINESS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SIGNAL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6596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FF4F7"/>
                </a:solidFill>
                <a:latin typeface="Arial"/>
              </a:defRPr>
            </a:pPr>
            <a:r>
              <a:t>Community intelligence. Municipal action.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EFF4F7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FFFFFF"/>
                </a:solidFill>
                <a:latin typeface="Arial"/>
              </a:defRPr>
            </a:pPr>
            <a:r>
              <a:t>01</a:t>
            </a:r>
          </a:p>
        </p:txBody>
      </p:sp>
      <p:pic>
        <p:nvPicPr>
          <p:cNvPr id="7" name="Picture 6" descr="city-0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651760"/>
            <a:ext cx="4526280" cy="3154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2880360"/>
            <a:ext cx="6400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200" b="1">
                <a:solidFill>
                  <a:srgbClr val="FFFFFF"/>
                </a:solidFill>
                <a:latin typeface="Arial"/>
              </a:defRPr>
            </a:pPr>
            <a:r>
              <a:t>Strategic growth &amp;</a:t>
            </a:r>
          </a:p>
          <a:p>
            <a:pPr>
              <a:spcAft>
                <a:spcPts val="800"/>
              </a:spcAft>
              <a:defRPr sz="3200" b="1">
                <a:solidFill>
                  <a:srgbClr val="FFFFFF"/>
                </a:solidFill>
                <a:latin typeface="Arial"/>
              </a:defRPr>
            </a:pPr>
            <a:r>
              <a:t>capital investment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709160"/>
            <a:ext cx="6126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FF4F7"/>
                </a:solidFill>
                <a:latin typeface="Arial"/>
              </a:defRPr>
            </a:pPr>
            <a:r>
              <a:t>Five-year outlook • South Africa to regional scale</a:t>
            </a:r>
          </a:p>
          <a:p>
            <a:pPr>
              <a:spcAft>
                <a:spcPts val="800"/>
              </a:spcAft>
              <a:defRPr sz="1800" b="0">
                <a:solidFill>
                  <a:srgbClr val="EFF4F7"/>
                </a:solidFill>
                <a:latin typeface="Arial"/>
              </a:defRPr>
            </a:pPr>
            <a:r>
              <a:t>Prepared from three management-supplied documents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A validated intake foundation; a commercial model to prove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Six-year Ward 115 history supports the data proposition. Recorded reports and founder-reported outcomes are not audited repairs.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0999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0999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Strategy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90999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Replicate up to five wards; sell sponsor-funded and institutional analysis while keeping core civic access free.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9080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9080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Capital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79080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The supplied paid-seat forecast needs about $981k before working capital. A $100k raise is a first tranche, not full scale funding.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Read the plan through three decision lenses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01 / Business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Evidence, workflow, market, offers, competition and first-cohort acquisition.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0999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0999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02 / Economics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90999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Source forecast, free-core reconciliation, cash flow, balance sheet, monthly bridge and sensitivities.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9080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9080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03 / Execution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79080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Funding gates, team, compliance, expansion and the complete supplied text appendix.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SOURCE RECONCILIATION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Conflicting source assumptions are disclosed, not blended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6596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62717D"/>
                </a:solidFill>
                <a:latin typeface="Arial"/>
              </a:defRPr>
            </a:pPr>
            <a:r>
              <a:t>S1: supplied text. S2: pitch deck, 15 Oct 2026. S3: supplied growth and expansion plan.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04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743200"/>
          <a:ext cx="1106423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2438400"/>
                <a:gridCol w="2438400"/>
                <a:gridCol w="2438400"/>
              </a:tblGrid>
              <a:tr h="65836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Topic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Text / pitch deck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Expansion plan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Treatment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Councillor pricing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$10 per month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Core service free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Free-core strategic case; paid-seat reference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Market size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$47.4m / $1.11tn TAM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Coverage counts, not revenue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Bottom-up buyer validation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Runway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$100k; text says 12–14 months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Funded scopes and gates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4.8-month reference burn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Resolution claims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100 resolved; &lt;30-min admin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Independent feedback sparse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Founder-reported, not independently audited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Fragmented signals create a handoff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Capture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Chat messages, locations and evidence sit across disconnected community channels.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0999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0999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Coordination burden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90999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The pitch reports up to four hours of daily manual work per ward office. A before/after time study is still required.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9080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9080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Planning blind spot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79080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Repeated failures cannot reliably inform budgets until reports, incidents and official cases are linked.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Ward 115 provides depth, not proof of paid demand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6596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62717D"/>
                </a:solidFill>
                <a:latin typeface="Arial"/>
              </a:defRPr>
            </a:pPr>
            <a:r>
              <a:t>S3 pp. 3–4; historical units must not be added together.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06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743200"/>
          <a:ext cx="1106423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3657600"/>
                <a:gridCol w="3657600"/>
              </a:tblGrid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Historical measure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Source value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Interpretation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All messages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155,284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Source volume over six years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Service reports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30,977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Reports before incident consolidation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Councillor messages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50,899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Coordination; subset, not additive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Unique community members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5,563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Reported people, not households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Groups / coverage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5 / 6 years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Historical archive scope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Pilot periods and current intake must stay distinct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6596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62717D"/>
                </a:solidFill>
                <a:latin typeface="Arial"/>
              </a:defRPr>
            </a:pPr>
            <a:r>
              <a:t>Do not reconcile different dates or definitions into one traction claim.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07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743200"/>
          <a:ext cx="1106423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3657600"/>
                <a:gridCol w="3657600"/>
              </a:tblGrid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Measure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Value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Evidence status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June 30–July 31 users / reports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6,500 / 577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Founder-reported, S2 p. 6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Ward-level resolved / AI spend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100 / ~$11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Independent outcome audit required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Photo-video / matched municipal IDs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61 / 139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Period-specific pilot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Current non-archived reports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3,048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S3 review dated 15 Oct 2026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Real refs / coordinates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848 / 1,246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27.8% / 40.9% of current reports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PRODUCT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Capture → link → act → verify → learn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Capture &amp; 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Telegram-first and web intake. Preserve original messages, consent, evidence and location; link duplicates to canonical incidents.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0999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0999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Act &amp; verify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90999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Assign service ownership and real municipal references. Record contractor evidence and independent feedback; reopen disputed cases.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9080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9080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Learn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79080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Separate reports, incidents, municipal cases and rewards. Build governed aggregate evidence for planning and resilience.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Expand the orchestration layer, not municipal 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Live foundation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Five Telegram groups, Ward 115 mini app, AI triage and case history; WhatsApp administrative console. Architecture is founder-supplied.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0999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0999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Next release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90999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Multi-tenant isolation, cross-channel linking, routing validation, accessible capture and reusable location records.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9080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9080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Control points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79080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Human review for low confidence, access controls, audit history and disaster recovery. SMS/USSD remains a proposed capability.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OFFER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Sell evidence to fund free civic participation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6596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62717D"/>
                </a:solidFill>
                <a:latin typeface="Arial"/>
              </a:defRPr>
            </a:pPr>
            <a:r>
              <a:t>No signed commercial agreements or validated sponsor prices supplied.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743200"/>
          <a:ext cx="1106423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3657600"/>
                <a:gridCol w="3657600"/>
              </a:tblGrid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Offer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Buyer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Commercial validation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Resident &amp; councillor tools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Residents / councillors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Free core access; S3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Ward intelligence baseline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Sponsor / institution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Paid bounded scope and acceptance criteria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Planning evidence pack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Sponsor / municipality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Recurring analytical service; price unvalidated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Municipal intelligence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Authorised municipal team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$10k/year reference assumption from S1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Aggregate insight / API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Utilities / planners / AI buyers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Lawful rights and paid data agreement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A grounded market starts with identifiable budget owners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South Africa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4,488 wards, 9,473 councillors and 257 municipalities have different dates and units. They are coverage, not paying accounts.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0999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0999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Reference capacity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90999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$1.137m councillor + $2.570m municipal annual revenue at S1 prices; $3.707m subtotal before businesses or data. Not validated TAM.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9080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9080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Demand 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79080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Name the buyer, procurement route, budget, use case and payment terms. Validate contract value before extrapolating a regional market.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Keep market estimates separate from obtainable revenue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6596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62717D"/>
                </a:solidFill>
                <a:latin typeface="Arial"/>
              </a:defRPr>
            </a:pPr>
            <a:r>
              <a:t>No external market verification commissioned; estimates are not presented as independently substantiated.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743200"/>
          <a:ext cx="1106423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3657600"/>
                <a:gridCol w="3657600"/>
              </a:tblGrid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Source estimate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Supplied figure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S1 continental TAM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$47.4m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Method and ward-level prices not provided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S1 South African SAM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$6.1m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Includes undefined adjacent buyers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S1 Year-5 SOM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$581k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Forecast revenue, not market size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S2 global TAM / GovTech SAM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$1.11tn / $14bn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Founder estimates; citations unconfirmed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S2 regional SOM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$325m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Includes $300m transaction upside; unvalidated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COMPETITIVE POSITIONING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Compete on traceable orchestration and local adoption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Alternative workflows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Chat groups, spreadsheets and municipal CRMs already exist. Integrate with official systems rather than claiming to replace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0999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0999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Proposed differentiation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90999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Preserved source history, report-to-incident linking, low-bandwidth intake and evidence-aware closure across channels.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9080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9080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Defensibility 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79080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Measure onboarding speed, data quality, official-reference coverage, renewal and switching costs. No competitor benchmark supplied.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GO-TO-MARKET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Win a bounded scope before scaling the footprint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Acquire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Founder access to local representatives; map sponsor CSI teams, authorised municipal buyers and planning institutions.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0999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0999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Convert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90999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Package one decision-use case, a paid statement of work, data authority and a named budget owner. Treat activation separately from collection.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9080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9080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Retain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79080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Deliver a comparable evidence pack, record buyer use, measure support effort and test renewal before adding the next cohort.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First-year delivery follows four evidence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6596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62717D"/>
                </a:solidFill>
                <a:latin typeface="Arial"/>
              </a:defRPr>
            </a:pPr>
            <a:r>
              <a:t>Ward 115 plus up to four additional wards; free users are not counted as paying seats.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743200"/>
          <a:ext cx="1106423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3657600"/>
                <a:gridCol w="3657600"/>
              </a:tblGrid>
              <a:tr h="65836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Timing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Delivery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Exit gate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Days 0–30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Define ward schema, scope and buyer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Named owner, authority and budget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Days 31–90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Ingest / profile first cohort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Traceable imports and quality review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Months 4–6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Deliver evidence; test paid use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Accepted output and actual collection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Months 7–12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Repeat onboarding; test renewal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No bespoke rebuild; viable delivery margin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GROWTH HORIZONS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Three horizons; regional launches remain conditional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Y1 / Establish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Stabilise the reference product and validate the five-ward cohort. Establish customer, delivery and collection economics.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0999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0999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Y2–3 / Monetise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90999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Develop recurring sponsor/institutional support and governed data products. CivicRewards is an optional upcoming pilot.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9080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9080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Y4–5 / Regional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79080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Track A: Namibia, Botswana, Kenya. Track B: Nigeria, Ethiopia. Require funded local partners, lawful data access and viable collections.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Hiring must follow revenue and funded delivery capacity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6596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62717D"/>
                </a:solidFill>
                <a:latin typeface="Arial"/>
              </a:defRPr>
            </a:pPr>
            <a:r>
              <a:t>S1 reference FTEs: 5 / 6 / 7 / 9 / 10; blended $45k/year. Founder experience: S2, 10+ and 28+ years.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743200"/>
          <a:ext cx="1106423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3657600"/>
                <a:gridCol w="3657600"/>
              </a:tblGrid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Capability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Y1 / Y3 / Y5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Accountability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Founders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2 / 2 / 2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Thami: institutional BD; Gugu: technical execution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Data / product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2 / 2 / 3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Reliable ingestion, models, security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Customer success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 / 1 / 2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Training, support and retention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Sales / partnerships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0 / 1 / 2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Buyer pipeline and renewals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Governance / audit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0 / 1 / 1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Rights, data protection and assurance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Governed data is a prerequisite, not a monetisation shortcut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Lawful 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Confirm controller/processor roles, collection basis, group-history authority and purpose limits. Obtain qualified POPIA advice.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0999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0999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Protected outputs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90999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Minimise identifiers, suppress small groups and assess re-identification risk. Anonymisation claims require testing and contractual controls.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9080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9080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Country launch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79080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Review local data law, hosting and transfers, procurement eligibility and political neutrality. Raw community data is not assumed saleable.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RISK REGISTER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Principal risks have explicit owners and responses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19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743200"/>
          <a:ext cx="1106423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3657600"/>
                <a:gridCol w="3657600"/>
              </a:tblGrid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Risk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Response / decision gate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Owner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Procurement &amp; late payment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Funded scope; stage invoices; monitor collections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Commercial founder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Unverified outcomes / poor data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Evidence review, independent feedback, reopen cases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Product / success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Privacy &amp; data licensing rights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Legal review and aggregate release controls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Governance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Funding / hiring ahead of sales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Tranche approvals and monthly cash forecast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Founders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Rewards / payment complexity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Separate optional pilot; exclude unvalidated margins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Product / partners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FINANCIAL ASSUMPTIONS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Financial projections are planning cases, not actual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Source reference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S1 prices: $10/month councillor, $50/month business, $10k/year municipality. Annual subscriptions use opening/closing customer averages.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0999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0999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Cost basis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90999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$45k/FTE salary, $1.8k/FTE premises, $1.2k/FTE tooling. $0.02 parsing unit implies 10k → 500k annual processing units.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9080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9080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Additional assumptions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79080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Illustrative 30-day revenue receivables, no payables, three-year straight-line hardware depreciation, no debt, interest or dividends. USD; no FX assumption.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FINANCIAL DRIVERS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Customer counts drive the paid-seat reference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6596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62717D"/>
                </a:solidFill>
                <a:latin typeface="Arial"/>
              </a:defRPr>
            </a:pPr>
            <a:r>
              <a:t>S1 model reproduced as an alternative; paid councillor assumptions conflict with S3 free-core strategy.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743200"/>
          <a:ext cx="1106423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1463040"/>
                <a:gridCol w="1463040"/>
                <a:gridCol w="1463040"/>
                <a:gridCol w="1463040"/>
                <a:gridCol w="1463040"/>
              </a:tblGrid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Year-end units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Y1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Y2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Y3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Y4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Y5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Councillors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150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400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900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1,600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Businesses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15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40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90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180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Municipal contracts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15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Total FTEs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Opening customer baseline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Prior Y1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Prior Y2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Prior Y3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Prior Y4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REVENUE FORECAST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Five-year revenue reaches $581k in the source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6596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62717D"/>
                </a:solidFill>
                <a:latin typeface="Arial"/>
              </a:defRPr>
            </a:pPr>
            <a:r>
              <a:t>US$000; source assumptions, not contracted sales. Data and advertising lack supplied price × volume drivers.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22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743200"/>
          <a:ext cx="1106423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1463040"/>
                <a:gridCol w="1463040"/>
                <a:gridCol w="1463040"/>
                <a:gridCol w="1463040"/>
                <a:gridCol w="1463040"/>
              </a:tblGrid>
              <a:tr h="4702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US$000 unless stated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Y1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Y2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Y3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Y4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Y5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Councillor subscriptions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3.0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12.0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33.0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78.0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150.0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Business subscriptions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1.5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6.0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16.5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39.0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81.0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Municipal contracts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5.0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20.0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50.0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110.0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Data licensing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2.0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12.0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30.0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75.0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150.0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Civic advertising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1.2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6.0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18.0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45.0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90.0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Total revenue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7.7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41.0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117.5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287.0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581.0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FINANCIAL TRAJECTORY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Revenue scale and cost discipline must converge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6596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62717D"/>
                </a:solidFill>
                <a:latin typeface="Arial"/>
              </a:defRPr>
            </a:pPr>
            <a:r>
              <a:t>Source-reference annual results in US$000; editable PowerPoint chart elements.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23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5486400"/>
            <a:ext cx="6720840" cy="7315"/>
          </a:xfrm>
          <a:prstGeom prst="rect">
            <a:avLst/>
          </a:prstGeom>
          <a:solidFill>
            <a:srgbClr val="D6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394960"/>
            <a:ext cx="41148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62717D"/>
                </a:solidFill>
                <a:latin typeface="Arial"/>
              </a:defRPr>
            </a:pPr>
            <a:r>
              <a:t>-400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1560" y="4937759"/>
            <a:ext cx="6720840" cy="7315"/>
          </a:xfrm>
          <a:prstGeom prst="rect">
            <a:avLst/>
          </a:prstGeom>
          <a:solidFill>
            <a:srgbClr val="D6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846320"/>
            <a:ext cx="41148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62717D"/>
                </a:solidFill>
                <a:latin typeface="Arial"/>
              </a:defRPr>
            </a:pPr>
            <a:r>
              <a:t>-200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51560" y="4389120"/>
            <a:ext cx="6720840" cy="7315"/>
          </a:xfrm>
          <a:prstGeom prst="rect">
            <a:avLst/>
          </a:prstGeom>
          <a:solidFill>
            <a:srgbClr val="D6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297680"/>
            <a:ext cx="41148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62717D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1560" y="3840480"/>
            <a:ext cx="6720840" cy="7315"/>
          </a:xfrm>
          <a:prstGeom prst="rect">
            <a:avLst/>
          </a:prstGeom>
          <a:solidFill>
            <a:srgbClr val="D6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749040"/>
            <a:ext cx="41148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62717D"/>
                </a:solidFill>
                <a:latin typeface="Arial"/>
              </a:defRPr>
            </a:pPr>
            <a:r>
              <a:t>200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1560" y="3291839"/>
            <a:ext cx="6720840" cy="7315"/>
          </a:xfrm>
          <a:prstGeom prst="rect">
            <a:avLst/>
          </a:prstGeom>
          <a:solidFill>
            <a:srgbClr val="D6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200399"/>
            <a:ext cx="41148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62717D"/>
                </a:solidFill>
                <a:latin typeface="Arial"/>
              </a:defRPr>
            </a:pPr>
            <a:r>
              <a:t>400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51560" y="2743200"/>
            <a:ext cx="6720840" cy="7315"/>
          </a:xfrm>
          <a:prstGeom prst="rect">
            <a:avLst/>
          </a:prstGeom>
          <a:solidFill>
            <a:srgbClr val="D6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651760"/>
            <a:ext cx="41148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62717D"/>
                </a:solidFill>
                <a:latin typeface="Arial"/>
              </a:defRPr>
            </a:pPr>
            <a:r>
              <a:t>600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49323" y="4367997"/>
            <a:ext cx="237744" cy="21122"/>
          </a:xfrm>
          <a:prstGeom prst="rect">
            <a:avLst/>
          </a:prstGeom>
          <a:solidFill>
            <a:srgbClr val="006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32787" y="4389120"/>
            <a:ext cx="237744" cy="681410"/>
          </a:xfrm>
          <a:prstGeom prst="rect">
            <a:avLst/>
          </a:prstGeom>
          <a:solidFill>
            <a:srgbClr val="008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40763" y="5541264"/>
            <a:ext cx="502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62717D"/>
                </a:solidFill>
                <a:latin typeface="Arial"/>
              </a:defRPr>
            </a:pPr>
            <a:r>
              <a:t>Y1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93491" y="4276648"/>
            <a:ext cx="237744" cy="112471"/>
          </a:xfrm>
          <a:prstGeom prst="rect">
            <a:avLst/>
          </a:prstGeom>
          <a:solidFill>
            <a:srgbClr val="006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076956" y="4389120"/>
            <a:ext cx="237744" cy="736549"/>
          </a:xfrm>
          <a:prstGeom prst="rect">
            <a:avLst/>
          </a:prstGeom>
          <a:solidFill>
            <a:srgbClr val="008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84931" y="5541264"/>
            <a:ext cx="502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62717D"/>
                </a:solidFill>
                <a:latin typeface="Arial"/>
              </a:defRPr>
            </a:pPr>
            <a:r>
              <a:t>Y2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37659" y="4066794"/>
            <a:ext cx="237744" cy="322326"/>
          </a:xfrm>
          <a:prstGeom prst="rect">
            <a:avLst/>
          </a:prstGeom>
          <a:solidFill>
            <a:srgbClr val="006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21123" y="4389120"/>
            <a:ext cx="237744" cy="698418"/>
          </a:xfrm>
          <a:prstGeom prst="rect">
            <a:avLst/>
          </a:prstGeom>
          <a:solidFill>
            <a:srgbClr val="008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29099" y="5541264"/>
            <a:ext cx="502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62717D"/>
                </a:solidFill>
                <a:latin typeface="Arial"/>
              </a:defRPr>
            </a:pPr>
            <a:r>
              <a:t>Y3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1828" y="3601821"/>
            <a:ext cx="237744" cy="787298"/>
          </a:xfrm>
          <a:prstGeom prst="rect">
            <a:avLst/>
          </a:prstGeom>
          <a:solidFill>
            <a:srgbClr val="006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765292" y="4389120"/>
            <a:ext cx="237744" cy="574700"/>
          </a:xfrm>
          <a:prstGeom prst="rect">
            <a:avLst/>
          </a:prstGeom>
          <a:solidFill>
            <a:srgbClr val="008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73268" y="5541264"/>
            <a:ext cx="502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62717D"/>
                </a:solidFill>
                <a:latin typeface="Arial"/>
              </a:defRPr>
            </a:pPr>
            <a:r>
              <a:t>Y4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25995" y="2795320"/>
            <a:ext cx="237744" cy="1593799"/>
          </a:xfrm>
          <a:prstGeom prst="rect">
            <a:avLst/>
          </a:prstGeom>
          <a:solidFill>
            <a:srgbClr val="006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09459" y="4375404"/>
            <a:ext cx="237744" cy="13716"/>
          </a:xfrm>
          <a:prstGeom prst="rect">
            <a:avLst/>
          </a:prstGeom>
          <a:solidFill>
            <a:srgbClr val="008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17435" y="5541264"/>
            <a:ext cx="502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62717D"/>
                </a:solidFill>
                <a:latin typeface="Arial"/>
              </a:defRPr>
            </a:pPr>
            <a:r>
              <a:t>Y5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14600" y="5843016"/>
            <a:ext cx="146304" cy="109728"/>
          </a:xfrm>
          <a:prstGeom prst="rect">
            <a:avLst/>
          </a:prstGeom>
          <a:solidFill>
            <a:srgbClr val="006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43200" y="5797296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62717D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977639" y="5843016"/>
            <a:ext cx="146304" cy="109728"/>
          </a:xfrm>
          <a:prstGeom prst="rect">
            <a:avLst/>
          </a:prstGeom>
          <a:solidFill>
            <a:srgbClr val="008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06240" y="5797296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62717D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292608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4200" b="1">
                <a:solidFill>
                  <a:srgbClr val="0068A0"/>
                </a:solidFill>
                <a:latin typeface="Arial"/>
              </a:defRPr>
            </a:pPr>
            <a:r>
              <a:t>$581k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3749039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62B3A"/>
                </a:solidFill>
                <a:latin typeface="Arial"/>
              </a:defRPr>
            </a:pPr>
            <a:r>
              <a:t>Year-5 annual revenue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457200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8A68"/>
                </a:solidFill>
                <a:latin typeface="Arial"/>
              </a:defRPr>
            </a:pPr>
            <a:r>
              <a:t>$5k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530352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162B3A"/>
                </a:solidFill>
                <a:latin typeface="Arial"/>
              </a:defRPr>
            </a:pPr>
            <a:r>
              <a:t>Year-5 EBITDA — thin buffer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DIRECT COST FORECAST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Gross margins rise to 93%; delivery costs need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6596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62717D"/>
                </a:solidFill>
                <a:latin typeface="Arial"/>
              </a:defRPr>
            </a:pPr>
            <a:r>
              <a:t>Support, security, data licensing fulfilment and payment processing may add costs not identified in S1.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24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743200"/>
          <a:ext cx="1106423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1463040"/>
                <a:gridCol w="1463040"/>
                <a:gridCol w="1463040"/>
                <a:gridCol w="1463040"/>
                <a:gridCol w="1463040"/>
              </a:tblGrid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US$000 unless stated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Y1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Y2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Y3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Y4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Y5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LLM parsing / token API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0.2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0.7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2.0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5.0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10.0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Cloud compute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2.4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4.8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9.6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18.0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30.0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Total COGS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2.6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5.5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11.6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23.0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40.0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Gross profit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5.1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35.5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105.9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264.0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541.0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Gross margin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66.2%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86.6%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90.1%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92.0%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93.1%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OPERATING EXPENDITURE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Personnel dominates the operating cost 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6596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62717D"/>
                </a:solidFill>
                <a:latin typeface="Arial"/>
              </a:defRPr>
            </a:pPr>
            <a:r>
              <a:t>Hardware is reclassified as capital expenditure only in the illustrative integrated statements below.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25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743200"/>
          <a:ext cx="1106423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1463040"/>
                <a:gridCol w="1463040"/>
                <a:gridCol w="1463040"/>
                <a:gridCol w="1463040"/>
                <a:gridCol w="1463040"/>
              </a:tblGrid>
              <a:tr h="4702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US$000 unless stated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Y1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Y2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Y3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Y4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Y5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Fully loaded personnel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225.0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270.0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315.0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405.0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450.0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Premises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9.0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10.8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12.6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16.2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18.0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Hardware (source expensed)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7.5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4.0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4.5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6.5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6.0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Software tools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6.0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7.2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8.4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10.8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12.0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GTM / travel / administration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6.0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12.0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20.0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35.0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50.0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Total source OPEX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253.5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304.0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360.5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473.5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536.0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INTEGRATED FINANCIALS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Integrated profit &amp; loss normalises hardware treatment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6596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62717D"/>
                </a:solidFill>
                <a:latin typeface="Arial"/>
              </a:defRPr>
            </a:pPr>
            <a:r>
              <a:t>No cash tax assumed due to accumulated losses; no deferred tax asset recognised. Tax eligibility and loss use require local advice.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26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743200"/>
          <a:ext cx="1106423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1463040"/>
                <a:gridCol w="1463040"/>
                <a:gridCol w="1463040"/>
                <a:gridCol w="1463040"/>
                <a:gridCol w="1463040"/>
              </a:tblGrid>
              <a:tr h="4702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US$000 unless stated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Y1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Y2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Y3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Y4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Y5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Revenue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7.7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41.0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117.5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287.0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581.0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Gross profit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5.1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35.5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105.9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264.0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541.0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Normalised EBITDA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(240.9)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(264.5)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(250.1)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(203.0)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11.0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Depreciation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(2.5)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(3.8)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(5.3)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(5.0)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(5.7)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EBIT / net income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(243.4)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(268.3)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(255.4)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(208.0)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5.3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Source EBITDA (comparison)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(248.4)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(268.5)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(254.6)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(209.5)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5.0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INTEGRATED FINANCIALS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Cash flow exposes the funding requirement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6596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62717D"/>
                </a:solidFill>
                <a:latin typeface="Arial"/>
              </a:defRPr>
            </a:pPr>
            <a:r>
              <a:t>Equity plugged annually to prevent negative year-end cash, not committed capital. Excludes minimum cash reserve and intra-year timing.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27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743200"/>
          <a:ext cx="1106423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1463040"/>
                <a:gridCol w="1463040"/>
                <a:gridCol w="1463040"/>
                <a:gridCol w="1463040"/>
                <a:gridCol w="1463040"/>
              </a:tblGrid>
              <a:tr h="4702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US$000 unless stated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Y1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Y2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Y3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Y4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Y5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Normalised EBITDA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(240.9)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(264.5)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(250.1)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(203.0)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11.0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Increase in receivables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(0.6)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(2.7)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(6.3)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(13.9)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(24.2)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Hardware capex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(7.5)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(4.0)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(4.5)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(6.5)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(6.0)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Pre-financing cash flow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(249.0)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(271.2)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(260.9)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(223.4)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(19.2)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Illustrative equity required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249.0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271.2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260.9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223.4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19.2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Closing cash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INTEGRATED FINANCIALS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Illustrative balance sheet reconciles to the cash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6596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62717D"/>
                </a:solidFill>
                <a:latin typeface="Arial"/>
              </a:defRPr>
            </a:pPr>
            <a:r>
              <a:t>No debt or payables assumed. Assets = contributed equity + retained earnings; opening balance assumed zero, not historical accounts.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28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743200"/>
          <a:ext cx="1106423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1463040"/>
                <a:gridCol w="1463040"/>
                <a:gridCol w="1463040"/>
                <a:gridCol w="1463040"/>
                <a:gridCol w="1463040"/>
              </a:tblGrid>
              <a:tr h="4702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US$000 unless stated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Y1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Y2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Y3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Y4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Y5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Cash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Receivables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0.6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3.4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9.7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23.6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47.8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Net hardware assets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5.0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5.2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4.3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5.8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6.2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Total assets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5.6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8.5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14.0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29.4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53.9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Cumulative equity injected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249.0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520.3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781.2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1,004.6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1,023.8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Accumulated retained losses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(243.4)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(511.7)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(767.2)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(975.2)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(969.8)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CAPITAL ADEQUACY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A $100k raise does not fund the supplied staffing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4.8 months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$248.4k Year-1 source loss ÷ 12 = $20.7k monthly burn. $100k covers 4.83 months under an even-burn simplification.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0999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0999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$981k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90999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Peak cumulative source EBITDA deficit through Y4, before working capital or cash buffers. $881k above the proposed first tranche.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9080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9080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$1,023.8k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79080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Illustrative total equity to maintain non-negative year-end cash with 30-day receivables. Additional reserves and monthly peaks remain unfunded.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MONTHLY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Twelve-month bridge makes the early cash gap visible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6596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62717D"/>
                </a:solidFill>
                <a:latin typeface="Arial"/>
              </a:defRPr>
            </a:pPr>
            <a:r>
              <a:t>S1 Year-1 totals divided evenly by 12; $100k opening cash. Excludes receivables timing; illustrative bridge, not a seasonal acquisition forecast.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30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743200"/>
          <a:ext cx="1106423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2438400"/>
                <a:gridCol w="2438400"/>
                <a:gridCol w="2438400"/>
              </a:tblGrid>
              <a:tr h="65836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Month band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Revenue / month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Net burn / month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Cash after band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M1–M3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$642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$20,700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$37,900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M4–M6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$642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$20,700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($24,200)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M7–M9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$642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$20,700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($86,300)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M10–M12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$642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$20,700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($148,400)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COMMERCIAL RECONCILIATION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Free-core strategy requires replacement payer revenue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6596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62717D"/>
                </a:solidFill>
                <a:latin typeface="Arial"/>
              </a:defRPr>
            </a:pPr>
            <a:r>
              <a:t>Retains all other unvalidated source assumptions. No sponsor prices invented. Year-5 gap $145k = 15 additional $10k contracts before delivery costs.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31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743200"/>
          <a:ext cx="1106423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1463040"/>
                <a:gridCol w="1463040"/>
                <a:gridCol w="1463040"/>
                <a:gridCol w="1463040"/>
                <a:gridCol w="1463040"/>
              </a:tblGrid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US$000 unless stated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Y1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Y2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Y3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Y4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Y5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Source-reference revenue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7.7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41.0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117.5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287.0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581.0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Remove councillor revenue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(3.0)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(12.0)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(33.0)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(78.0)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(150.0)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Free-core revenue (no replacement)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4.7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29.0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84.5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209.0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431.0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Free-core EBITDA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(251.4)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(280.5)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(287.6)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(287.5)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(145.0)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Annual EBITDA break-even gap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251.4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280.5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287.6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287.5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145.0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UNIT 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Exit subscription run-rate is not total annual revenue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$450k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Year-5 exit subscription run-rate: $192k councillors + $108k businesses + $150k municipal contracts. Paid-seat alternative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0999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0999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$690k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90999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Including $150k data and $90k advertising gives a total annualised illustrative run-rate, not contracted recurring ARR.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9080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9080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Still unknown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79080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Acquisition costs, churn, retention, delivery hours, sponsor pricing and contracted data volumes. Do not publish LTV/CAC without evidence.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SENSITIVITY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Small revenue misses remove Year-5 break-even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6596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62717D"/>
                </a:solidFill>
                <a:latin typeface="Arial"/>
              </a:defRPr>
            </a:pPr>
            <a:r>
              <a:t>Illustrative proportional revenue changes; COGS fixed conservatively. No probability weights, receivables or additional investment included.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33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743200"/>
          <a:ext cx="1106423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2438400"/>
                <a:gridCol w="2438400"/>
                <a:gridCol w="2438400"/>
              </a:tblGrid>
              <a:tr h="65836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Scenario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Y5 revenue $k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Y5 EBITDA $k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Peak loss funding $k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Reference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581.0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5.0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981.0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Revenue −25%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435.8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(140.2)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1,234.5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Revenue +25%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726.2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150.2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867.7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Personnel +20%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581.0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(85.0)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1,309.0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USE OF FUNDS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The source raise is a gated first tranche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40% / $40k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Product engineering and automation. Prioritise repeatable ward ingestion, linking and evidence controls.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0999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0999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35% / $35k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90999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Secure compute and core data infrastructure. Reconcile this envelope with just $2.6k Year-1 COGS in the source model.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9080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9080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25% / $25k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79080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Buyer development and onboarding. Rewrite the source 50 paid-councillor milestone for the free-core model.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INVESTMENT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Approve scale only when evidence and cash align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Before first close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Approve payer model, rights and source assumptions. Replace the 12–14-month runway claim with a costed, funded plan.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0999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0999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Before follow-on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90999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Show buyer acceptance, payment, renewal interest and measured ward-level delivery costs. Negotiate scope-based financing.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9080" y="27432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8A68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9080" y="3337560"/>
            <a:ext cx="332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62B3A"/>
                </a:solidFill>
                <a:latin typeface="Arial"/>
              </a:defRPr>
            </a:pPr>
            <a:r>
              <a:t>Before regional entry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79080" y="4069080"/>
            <a:ext cx="33223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62B3A"/>
                </a:solidFill>
                <a:latin typeface="Arial"/>
              </a:defRPr>
            </a:pPr>
            <a:r>
              <a:t>Require a local funded partner, approved data use, hosting, procurement and collection route. Avoid unfunded geography commitments.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DILIGENCE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Management decisions required before external circulation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6596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62717D"/>
                </a:solidFill>
                <a:latin typeface="Arial"/>
              </a:defRPr>
            </a:pPr>
            <a:r>
              <a:t>Consulting-inspired presentation; not affiliated with, prepared by, or endorsed by KPMG or McKinsey.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36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743200"/>
          <a:ext cx="1106423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3657600"/>
                <a:gridCol w="3657600"/>
              </a:tblGrid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Decision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Required evidence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Commercial model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Confirm free core vs paid-seat alternative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Unresolved across sources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Financial baseline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Actual cash, liabilities, payroll, tax and FX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Not supplied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Contract pipeline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Signed scope, buyer budget, price and payment dates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Not supplied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Data licensing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Rights, anonymisation assessment and buyer terms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Not supplied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Pilot effectiveness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Independent closure and admin-time verification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Founder-reported / incomplete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SOURCE REGISTER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Every claim has a source or an assumption label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37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743200"/>
          <a:ext cx="1106423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3657600"/>
                <a:gridCol w="3657600"/>
              </a:tblGrid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ID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Document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Use</a:t>
                      </a:r>
                    </a:p>
                  </a:txBody>
                  <a:tcPr marL="109728" marT="59436" marB="32004">
                    <a:solidFill>
                      <a:srgbClr val="162B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S1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SIGNAL_DESK_pasted.md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Source financials; entire verbatim text in appendix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S2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SignalDesk-YC-PitchDeck_15Oct2026.pdf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Pilot, architecture, founders, roadmap and ask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S3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Signal_Desk_Full_Growth_Expansion_Plan.pptx.pdf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Free-core model, evidence, governance and regional gates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A1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Analyst planning assumptions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Hardware reclassification, 30-day receivables, zero opening balances</a:t>
                      </a:r>
                    </a:p>
                  </a:txBody>
                  <a:tcPr marL="109728" marT="59436" marB="3200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Limit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No independent verification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62B3A"/>
                          </a:solidFill>
                          <a:latin typeface="Arial"/>
                        </a:defRPr>
                      </a:pPr>
                      <a:r>
                        <a:t>No actual accounts, committed capital or confirmed contracts</a:t>
                      </a:r>
                    </a:p>
                  </a:txBody>
                  <a:tcPr marL="109728" marT="59436" marB="32004">
                    <a:solidFill>
                      <a:srgbClr val="EF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8A68"/>
                </a:solidFill>
                <a:latin typeface="Arial"/>
              </a:defRPr>
            </a:pPr>
            <a:r>
              <a:t>SIGNAL DESK  / 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SIGNAL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6596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FF4F7"/>
                </a:solidFill>
                <a:latin typeface="Arial"/>
              </a:defRPr>
            </a:pPr>
            <a:r>
              <a:t>Confirm the payer model. Fund the next evidence gate.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EFF4F7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FFFFFF"/>
                </a:solidFill>
                <a:latin typeface="Arial"/>
              </a:defRPr>
            </a:pPr>
            <a:r>
              <a:t>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291840"/>
            <a:ext cx="7315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600" b="0">
                <a:solidFill>
                  <a:srgbClr val="FFFFFF"/>
                </a:solidFill>
                <a:latin typeface="Arial"/>
              </a:defRPr>
            </a:pPr>
            <a:r>
              <a:t>thami@signaldesk.co.za</a:t>
            </a:r>
          </a:p>
          <a:p>
            <a:pPr>
              <a:spcAft>
                <a:spcPts val="800"/>
              </a:spcAft>
              <a:defRPr sz="2600" b="0">
                <a:solidFill>
                  <a:srgbClr val="FFFFFF"/>
                </a:solidFill>
                <a:latin typeface="Arial"/>
              </a:defRPr>
            </a:pPr>
            <a:r>
              <a:t>gugu@signaldesk.co.za</a:t>
            </a:r>
          </a:p>
          <a:p>
            <a:pPr>
              <a:spcAft>
                <a:spcPts val="800"/>
              </a:spcAft>
              <a:defRPr sz="2600" b="0">
                <a:solidFill>
                  <a:srgbClr val="FFFFFF"/>
                </a:solidFill>
                <a:latin typeface="Arial"/>
              </a:defRPr>
            </a:pPr>
            <a:r>
              <a:t>signaldesk.co.za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APPENDIX / S1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Supplied prospectus — verbatim 1/13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6596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62717D"/>
                </a:solidFill>
                <a:latin typeface="Arial"/>
              </a:defRPr>
            </a:pPr>
            <a:r>
              <a:t>Original management text; conflicting assumptions and closing question intentionally preserved.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110185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SIGNAL DESK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Strategic Growth &amp; Capital Investment Prospectus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October 2026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1. Executive Summary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1.1 The Venture Hypothesis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Signal Desk is an infrastructure-intelligence platform designed to transform fragmented, unstructured community voice into structured civic data asset networks. Built on a six-year operational pilot in Johannesburg’s Ward 115, the platform acts as a decentralized workflow routing and diagnostics layer for public infrastructure management.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APPENDIX / S1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Supplied prospectus — verbatim 2/13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6596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62717D"/>
                </a:solidFill>
                <a:latin typeface="Arial"/>
              </a:defRPr>
            </a:pPr>
            <a:r>
              <a:t>Original management text; conflicting assumptions and closing question intentionally preserved.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110185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By analyzing over 155,000 community messages and 30,977 service reports, the platform has historically demonstrated a significant structural impact: reducing localized councillor administrative burdens from several hours a day to under 30 minutes.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The venture's scalable thesis converts structural civic friction into a multi-sided business model. Signal Desk simultaneously drives workflow efficiencies for local representatives, market insights for commercial businesses, and high-integrity tokenized datasets for global AI model developers and data brokers.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1.2 Strategic Architecture (McKinsey Horizon Model)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Signal Desk’s market expansion strategy is executed across three distinct value horizons: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[Horizon 3: Continental Scale] ──&gt; Select regional scaling &amp; predictive analytics infrastructure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                                  (Years 4–5)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                                  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[Horizon 2: Monetization Layer] ─&gt; B2B monetization via corporate subscriptions &amp; data brokerage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                                  (Years 2–3)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[Horizon 1: Reference Pilot] ────&gt; Stabilize core infrastructure &amp; monetize 5-ward cohort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                                  (Year 1)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APPENDIX / S1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Supplied prospectus — verbatim 3/13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6596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62717D"/>
                </a:solidFill>
                <a:latin typeface="Arial"/>
              </a:defRPr>
            </a:pPr>
            <a:r>
              <a:t>Original management text; conflicting assumptions and closing question intentionally preserved.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110185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• Horizon 1 (Year 1): Core Stabilization &amp; Replication: Validate paid software conversion from a targeted 5-ward municipal cohort in South Africa. Establish baseline unit economics across core administrative software interfaces.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• Horizon 2 (Years 2–3): Multi-Sided Monetization: Scale commercial B2B provider loops, finalize the CivicRewards pilot ecosystem, and execute high-margin transactional data broker integrations.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• Horizon 3 (Years 4–5): Continental Network Effects: Expand market penetration to high-density regional metros across sub-Saharan Africa (Track A: Namibia, Botswana, Kenya; Track B: Nigeria, Ethiopia), transforming Signal Desk into the definitive data oracle for emerging market infrastructure planning.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2. Product Architecture &amp; Multi-Sided Value Proposition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2.1 Technical Workflow Engine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The platform bypasses capital-intensive infrastructure deployments by positioning itself as a lightweight data aggregator layer. It leverages consumer chat platforms (Telegram-first) and optimized web capture screens to ingest raw information.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[1. Capture] ──&gt; [2. Link / Deduplicate] ──&gt; [3. Act / Route] ──&gt; [4. Verify / Close]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1. Capture: Automated ingest of geotagged community text, metadata, and visual evidence assets.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APPENDIX / S1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Supplied prospectus — verbatim 4/13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6596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62717D"/>
                </a:solidFill>
                <a:latin typeface="Arial"/>
              </a:defRPr>
            </a:pPr>
            <a:r>
              <a:t>Original management text; conflicting assumptions and closing question intentionally preserved.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110185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2. Link / Deduplicate: Machine learning models group overlapping complaints into a single canonical incident node, preventing public tracking systems from flooding.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3. Act / Route: Automatic translation into standard department formats, linking them directly to real municipal tracking numbers.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4. Verify / Close: Multi-source verification protocols confirm resolution through independent resident reports before archiving the historical file.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2.2 Product Tier Portfolio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+---------------------------------------------------------------------------------+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|                                 SIGNAL DESK CORE                                |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+----------------------------------------+----------------------------------------+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|               B2G TIERS                |               B2B TIERS                |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|                                        |                                        |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|  • Councillor Tracking Tools ($10/mo)  |  • Commercial Provider CRM ($50/mo)    |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|  • Municipal Intelligence ($10k/yr)   |  • Anonymized AI Data Licensing        |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+----------------------------------------+----------------------------------------+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APPENDIX / S1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Supplied prospectus — verbatim 5/13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6596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62717D"/>
                </a:solidFill>
                <a:latin typeface="Arial"/>
              </a:defRPr>
            </a:pPr>
            <a:r>
              <a:t>Original management text; conflicting assumptions and closing question intentionally preserved.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43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110185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• Ward Councillors ($10/month per seat): Cloud dashboard optimizing localized escalation tracking and report organization.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• Businesses &amp; Service Providers ($50/month per seat): B2B routing tools, service level agreement trackers, and validation tools for contractors working in localized zones.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• Municipalities ($10,000/annum per contract): Multi-ward cross-sectional planning modules, department response metrics, and systemic risk assessments.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3. Market Opportunity &amp; Addressable Asset Valuation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3.1 Total Addressable Market (TAM) Analysis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South Africa offers an immediate, highly structured baseline market consisting of 4,488 unique wards, 9,473 elected councillors, and 257 organized municipalities.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+-----------------------------------------------------------------------------------+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| Total Addressable Market (TAM): $47,4M                                           |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| Includes total administrative and planning budgets across 45,000 sub-Saharan wards|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+-----------------------------------------------------------------------------------+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APPENDIX / S1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Supplied prospectus — verbatim 6/13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6596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62717D"/>
                </a:solidFill>
                <a:latin typeface="Arial"/>
              </a:defRPr>
            </a:pPr>
            <a:r>
              <a:t>Original management text; conflicting assumptions and closing question intentionally preserved.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110185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       |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       v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+-----------------------------------------------------------------------------------+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| Serviceable Addressable Market (SAM): $6,1M                                       |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| 4,488 active South African wards + direct utility providers &amp; adjacent data markets|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+-----------------------------------------------------------------------------------+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       |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       v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+-----------------------------------------------------------------------------------+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| Serviceable Obtainable Market (SOM): $581K                                        |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| Year 5 target penetration: 1,600 councillors, 180 enterprise providers, 15 cities |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+-----------------------------------------------------------------------------------+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3.2 Data Licensing &amp; AI Monetization Mechanics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APPENDIX / S1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Supplied prospectus — verbatim 7/13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6596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62717D"/>
                </a:solidFill>
                <a:latin typeface="Arial"/>
              </a:defRPr>
            </a:pPr>
            <a:r>
              <a:t>Original management text; conflicting assumptions and closing question intentionally preserved.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45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110185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Modern Large Language Models (LLMs) and spatial AI platforms suffer from a lack of high-fidelity, hyper-local ground truth data in emerging markets. Signal Desk’s data asset engine standardizes unstructured history into highly valuable, structured datasets.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+---------------------------+       +----------------------------+       +---------------------------+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|    Raw Community Feeds    |  ==&gt;  | Signal Desk Data Standard  |  ==&gt;  |   Enterprise AI Buyers    |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| Unstructured, localized   |       | Anonymized, cross-linked,  |       | Spatial AI, GIS models,   |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| communication streams     |       | structured metadata layers |       | infrastructure investors  |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+---------------------------+       +----------------------------+       +---------------------------+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• Asset Specification: Data packages are anonymized at the source to maintain compliance with POPIA. They are categorized by utility vector (electricity grids, clean water access, transit routes, and localized municipal scorecards).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• Target Enterprise Buyers: Global geospatial intelligence providers, infrastructure private equity funds, logistics routing engines, and academic institutions training predictive climate and resilience models.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4. Operational Scaling &amp; Workforce Architecture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To maintain a lean overhead model, personnel scaling matches multi-ward milestones. Headcount will expand from 5 to 10 full-time equivalents (FTEs) over a five-year horizon.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APPENDIX / S1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Supplied prospectus — verbatim 8/13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6596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62717D"/>
                </a:solidFill>
                <a:latin typeface="Arial"/>
              </a:defRPr>
            </a:pPr>
            <a:r>
              <a:t>Original management text; conflicting assumptions and closing question intentionally preserved.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110185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       [Year 1: 5 FTEs]                   [Year 3: 7 FTEs]                   [Year 5: 10 FTEs]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┌──────────────────────────────┐   ┌──────────────────────────────┐   ┌──────────────────────────────┐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│ • Founders (2)               │   │ • Founders (2)               │   │ • Founders (2)               │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│ • Data/Product Eng (2)       │   │ • Data/Product Eng (2)       │   │ • Data/Product Eng (3)       │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│ • Customer Success (1)       │   │ • Customer Success (1)       │   │ • Customer Success (2)       │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└──────────────────────────────┘   │ • Sales/Partnerships (1)     │   │ • Sales/Partnerships (2)     │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                                   │ • Governance/Data Audit (1)  │   │ • Governance/Data Audit (1)  │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                                   └──────────────────────────────┘   └──────────────────────────────┘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1. Founders (2 FTEs): Strategic account relationships, policy coordination, and institutional capital acquisition.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2. Data &amp; Product Engineers (Scale 2 to 3 FTEs): Architecture maintenance, LLM parsing optimization, automated database deduplication, and secure API pipeline construction.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3. Customer Success Managers (Scale 1 to 2 FTEs): Regional user training, setup support, activation optimization, and account retention tracking.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4. Sales &amp; Partnerships Leads (Scale 0 to 2 FTEs): Driving commercial enterprise user acquisition, managing data broker sales pipelines, and closing municipal contracts.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5. Governance &amp; Data Audit Specialists (Scale 0 to 1 FTE): Maintaining compliance structures under regional data protection frameworks (POPIA, GDPR equivalents) across target markets.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APPENDIX / S1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Supplied prospectus — verbatim 9/13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6596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62717D"/>
                </a:solidFill>
                <a:latin typeface="Arial"/>
              </a:defRPr>
            </a:pPr>
            <a:r>
              <a:t>Original management text; conflicting assumptions and closing question intentionally preserved.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47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110185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5. Comprehensive Financial Plan &amp; Scaling Metrics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5.1 Macro Growth Driver Assumptions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• Subscription Ramp: Calculated using linear mid-year averaging to adjust for progressive customer acquisition over any given 12-month calendar cycle.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• Fully-Loaded Staff Costs: Standardized at a blended rate of $45,000 / annum per FTE (covering salaries, localized benefit obligations, and payroll taxes within regional operating parameters).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• Operating Facilities: Managed via agile corporate spaces budgeted at $1,800 / annum per active employee node.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• SaaS Stack Infrastructure: Standardized at $1,200 / annum per employee node for core engineering tools, automated verification nodes, secure communication channels, and compliance software.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5.2 5-Year Integrated Forecast Model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$600k ─────────────────────────────────────────────────────────────────────── Total Revenue: $581K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                                                                              Gross Profit: $541K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$400k ───────────────────────────────────────────────────────────────────     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APPENDIX / S1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Supplied prospectus — verbatim 10/13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6596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62717D"/>
                </a:solidFill>
                <a:latin typeface="Arial"/>
              </a:defRPr>
            </a:pPr>
            <a:r>
              <a:t>Original management text; conflicting assumptions and closing question intentionally preserved.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110185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                                                                              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$200k ───────────────────────────────────────────────────────────────         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                                                                              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   $0 ─────────────────■─────────────────■─────────────────■─────────────────■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                    Year 1            Year 2            Year 3            Year 4            Year 5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-$200k ───■──────────────────────────────────────────────────────────────────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       EBITDA: -$248.4K     EBITDA: -$268.5K  EBITDA: -$254.6K  EBITDA: -$209.5K  EBITDA: $5.0K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Financial Matrix Line Item ($)	Year 1	Year 2	Year 3	Year 4	Year 5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FINANCIAL TARGETS					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Active Paying Councillors	50	150	400	900	1,600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Active Paying Businesses	5	15	40	90	180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Active Municipal Contracts	0	1	3	7	15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REVENUE STREAMS					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Councillor Subscriptions ($10/mo)	3,000	12,000	33,000	78,000	150,000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Business Subscriptions ($50/mo)	1,500	6,000	16,500	39,000	81,000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Municipal Contracts ($10k/yr)	0	5,000	20,000	50,000	110,000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Anonymized AI Data Licensing	2,000	12,000	30,000	75,000	150,000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Targeted Civic App Advertising	1,200	6,000	18,000	45,000	90,000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APPENDIX / S1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Supplied prospectus — verbatim 11/13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6596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62717D"/>
                </a:solidFill>
                <a:latin typeface="Arial"/>
              </a:defRPr>
            </a:pPr>
            <a:r>
              <a:t>Original management text; conflicting assumptions and closing question intentionally preserved.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110185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TOTAL GROSS REVENUE	7,700	41,000	117,500	287,000	581,000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DIRECT COSTS (COGS)					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LLM Parse &amp; Token API Costs ($0.02)	(200)	(700)	(2,000)	(5,000)	(10,000)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Server Compute &amp; Secure Cloud	(2,400)	(4,800)	(9,600)	(18,000)	(30,000)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TOTAL DIRECT COSTS	(2,600)	(5,500)	(11,600)	(23,000)	(40,000)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GROSS OPERATING PROFIT	5,100	35,500	105,900	264,000	541,000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Gross Margin Efficiency %	66.2%	86.6%	90.1%	92.0%	93.1%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OPERATING EXPENSES (OPEX)					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Personnel Fully Loaded Costs	(225,000)	(270,000)	(315,000)	(405,000)	(450,000)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Premises Rent (Agile Hubs)	(9,000)	(10,800)	(12,600)	(16,200)	(18,000)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IT Hardware Provisioning	(7,500)	(4,000)	(4,500)	(6,500)	(6,000)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Software &amp; Infrastructure Tooling	(6,000)	(7,200)	(8,400)	(10,800)	(12,000)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GTM, Local Travel &amp; Administration	(6,000)	(12,000)	(20,000)	(35,000)	(50,000)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TOTAL OPERATING EXPENSES	(253,500)	(304,000)	(360,500)	(473,500)	(536,000)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EARNINGS PROFILE (EBITDA)	(248,400)	(268,500)	(254,600)	(209,500)	5,000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6. Financing Requirements &amp; Capital Deployment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APPENDIX / S1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Supplied prospectus — verbatim 12/13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6596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62717D"/>
                </a:solidFill>
                <a:latin typeface="Arial"/>
              </a:defRPr>
            </a:pPr>
            <a:r>
              <a:t>Original management text; conflicting assumptions and closing question intentionally preserved.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110185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6.1 Seed Round Target Structure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Signal Desk is raising an initial $100,000 financing round via open-architecture instruments (such as equity or flexible convertible structures). This round is designed to fund early operations and successfully unlock the platform's initial expansion milestones.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6.2 Structural Allocation of Proceeds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The capital injection will be allocated across three strategic budget categories: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[$100,000 Seed Capital Investment]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  ├── [40%] $40,000 -&gt; Product Engineering &amp; Automation Scaling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  │                      (Refining automated data deduplication &amp; spatial linking pipelines)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  ├── [35%] $35,000 -&gt; Secure AI Compute &amp; Core Database Scaling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  │                      (Cloud management and ingestion framework infrastructure for a 5-ward cohort)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  └── [25%] $25,000 -&gt; Strategic GTM Penetration &amp; Account Onboarding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                         (Onboarding the initial 50 paid municipal representative nodes)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6.3 Strategic Investment Milestones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068A0"/>
                </a:solidFill>
                <a:latin typeface="Arial"/>
              </a:defRPr>
            </a:pPr>
            <a:r>
              <a:t>SIGNAL DESK  /  APPENDIX / S1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62B3A"/>
                </a:solidFill>
                <a:latin typeface="Arial"/>
              </a:defRPr>
            </a:pPr>
            <a:r>
              <a:t>Supplied prospectus — verbatim 13/13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6596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62717D"/>
                </a:solidFill>
                <a:latin typeface="Arial"/>
              </a:defRPr>
            </a:pPr>
            <a:r>
              <a:t>Original management text; conflicting assumptions and closing question intentionally preserved.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2717D"/>
                </a:solidFill>
                <a:latin typeface="Arial"/>
              </a:defRPr>
            </a:pPr>
            <a:r>
              <a:t>BUSINESS PLAN • OCTOBER 2026  |  CONFIDENTIAL • MANAGEMENT PLANNING,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994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162B3A"/>
                </a:solidFill>
                <a:latin typeface="Arial"/>
              </a:defRPr>
            </a:pPr>
            <a:r>
              <a:t>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110185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This capitalization runway provides approximately 12 to 14 months of operating runway, driving the enterprise through key operational valuation gates: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• Transitioning the Ward 115 pilot network into a reference case study with 50 paying councillors.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• Standardizing the operational deployment manual to allow new wards to onboard without requiring custom product engineering updates.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• Finalizing a baseline data delivery agreement with an enterprise data broker or spatial intelligence platform, validating our long-term monetization model.</a:t>
            </a:r>
          </a:p>
          <a:p>
            <a:pPr>
              <a:spcAft>
                <a:spcPts val="0"/>
              </a:spcAft>
              <a:defRPr sz="1300" b="0">
                <a:solidFill>
                  <a:srgbClr val="162B3A"/>
                </a:solidFill>
                <a:latin typeface="Arial"/>
              </a:defRPr>
            </a:pPr>
            <a:r>
              <a:t>Would you like to analyze the sensitivity metrics for our data licensing revenue (e.g., changes in bulk transaction volumes), or build out a detailed compliance checklist for cross-border data transfers into the Track A markets?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Signal Desk — Strategic Business Plan &amp; Financial Projections</dc:title>
  <dc:subject>Source-reconciled five-year business plan, October 2026</dc:subject>
  <dc:creator>Signal Desk</dc:creator>
  <cp:keywords>Business plan; source assumptions; editable Arial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